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2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9454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8869680" y="-2103120"/>
            <a:ext cx="5669280" cy="5669280"/>
          </a:xfrm>
          <a:prstGeom prst="ellipse">
            <a:avLst/>
          </a:prstGeom>
          <a:solidFill>
            <a:srgbClr val="B01458"/>
          </a:solidFill>
          <a:ln/>
        </p:spPr>
      </p:sp>
      <p:sp>
        <p:nvSpPr>
          <p:cNvPr id="3" name="Shape 1"/>
          <p:cNvSpPr/>
          <p:nvPr/>
        </p:nvSpPr>
        <p:spPr>
          <a:xfrm>
            <a:off x="457200" y="6035040"/>
            <a:ext cx="50292" cy="50292"/>
          </a:xfrm>
          <a:prstGeom prst="ellipse">
            <a:avLst/>
          </a:prstGeom>
          <a:solidFill>
            <a:srgbClr val="FC2779">
              <a:alpha val="60000"/>
            </a:srgbClr>
          </a:solidFill>
          <a:ln/>
        </p:spPr>
      </p:sp>
      <p:sp>
        <p:nvSpPr>
          <p:cNvPr id="4" name="Shape 2"/>
          <p:cNvSpPr/>
          <p:nvPr/>
        </p:nvSpPr>
        <p:spPr>
          <a:xfrm>
            <a:off x="457200" y="6181344"/>
            <a:ext cx="50292" cy="50292"/>
          </a:xfrm>
          <a:prstGeom prst="ellipse">
            <a:avLst/>
          </a:prstGeom>
          <a:solidFill>
            <a:srgbClr val="FC2779">
              <a:alpha val="60000"/>
            </a:srgbClr>
          </a:solidFill>
          <a:ln/>
        </p:spPr>
      </p:sp>
      <p:sp>
        <p:nvSpPr>
          <p:cNvPr id="5" name="Shape 3"/>
          <p:cNvSpPr/>
          <p:nvPr/>
        </p:nvSpPr>
        <p:spPr>
          <a:xfrm>
            <a:off x="457200" y="6327648"/>
            <a:ext cx="50292" cy="50292"/>
          </a:xfrm>
          <a:prstGeom prst="ellipse">
            <a:avLst/>
          </a:prstGeom>
          <a:solidFill>
            <a:srgbClr val="FC2779">
              <a:alpha val="60000"/>
            </a:srgbClr>
          </a:solidFill>
          <a:ln/>
        </p:spPr>
      </p:sp>
      <p:sp>
        <p:nvSpPr>
          <p:cNvPr id="6" name="Shape 4"/>
          <p:cNvSpPr/>
          <p:nvPr/>
        </p:nvSpPr>
        <p:spPr>
          <a:xfrm>
            <a:off x="603504" y="6035040"/>
            <a:ext cx="50292" cy="50292"/>
          </a:xfrm>
          <a:prstGeom prst="ellipse">
            <a:avLst/>
          </a:prstGeom>
          <a:solidFill>
            <a:srgbClr val="FC2779">
              <a:alpha val="60000"/>
            </a:srgbClr>
          </a:solidFill>
          <a:ln/>
        </p:spPr>
      </p:sp>
      <p:sp>
        <p:nvSpPr>
          <p:cNvPr id="7" name="Shape 5"/>
          <p:cNvSpPr/>
          <p:nvPr/>
        </p:nvSpPr>
        <p:spPr>
          <a:xfrm>
            <a:off x="603504" y="6181344"/>
            <a:ext cx="50292" cy="50292"/>
          </a:xfrm>
          <a:prstGeom prst="ellipse">
            <a:avLst/>
          </a:prstGeom>
          <a:solidFill>
            <a:srgbClr val="FC2779">
              <a:alpha val="60000"/>
            </a:srgbClr>
          </a:solidFill>
          <a:ln/>
        </p:spPr>
      </p:sp>
      <p:sp>
        <p:nvSpPr>
          <p:cNvPr id="8" name="Shape 6"/>
          <p:cNvSpPr/>
          <p:nvPr/>
        </p:nvSpPr>
        <p:spPr>
          <a:xfrm>
            <a:off x="603504" y="6327648"/>
            <a:ext cx="50292" cy="50292"/>
          </a:xfrm>
          <a:prstGeom prst="ellipse">
            <a:avLst/>
          </a:prstGeom>
          <a:solidFill>
            <a:srgbClr val="FC2779">
              <a:alpha val="60000"/>
            </a:srgbClr>
          </a:solidFill>
          <a:ln/>
        </p:spPr>
      </p:sp>
      <p:sp>
        <p:nvSpPr>
          <p:cNvPr id="9" name="Shape 7"/>
          <p:cNvSpPr/>
          <p:nvPr/>
        </p:nvSpPr>
        <p:spPr>
          <a:xfrm>
            <a:off x="749808" y="6035040"/>
            <a:ext cx="50292" cy="50292"/>
          </a:xfrm>
          <a:prstGeom prst="ellipse">
            <a:avLst/>
          </a:prstGeom>
          <a:solidFill>
            <a:srgbClr val="FC2779">
              <a:alpha val="60000"/>
            </a:srgbClr>
          </a:solidFill>
          <a:ln/>
        </p:spPr>
      </p:sp>
      <p:sp>
        <p:nvSpPr>
          <p:cNvPr id="10" name="Shape 8"/>
          <p:cNvSpPr/>
          <p:nvPr/>
        </p:nvSpPr>
        <p:spPr>
          <a:xfrm>
            <a:off x="749808" y="6181344"/>
            <a:ext cx="50292" cy="50292"/>
          </a:xfrm>
          <a:prstGeom prst="ellipse">
            <a:avLst/>
          </a:prstGeom>
          <a:solidFill>
            <a:srgbClr val="FC2779">
              <a:alpha val="60000"/>
            </a:srgbClr>
          </a:solidFill>
          <a:ln/>
        </p:spPr>
      </p:sp>
      <p:sp>
        <p:nvSpPr>
          <p:cNvPr id="11" name="Shape 9"/>
          <p:cNvSpPr/>
          <p:nvPr/>
        </p:nvSpPr>
        <p:spPr>
          <a:xfrm>
            <a:off x="749808" y="6327648"/>
            <a:ext cx="50292" cy="50292"/>
          </a:xfrm>
          <a:prstGeom prst="ellipse">
            <a:avLst/>
          </a:prstGeom>
          <a:solidFill>
            <a:srgbClr val="FC2779">
              <a:alpha val="60000"/>
            </a:srgbClr>
          </a:solidFill>
          <a:ln/>
        </p:spPr>
      </p:sp>
      <p:sp>
        <p:nvSpPr>
          <p:cNvPr id="12" name="Shape 10"/>
          <p:cNvSpPr/>
          <p:nvPr/>
        </p:nvSpPr>
        <p:spPr>
          <a:xfrm>
            <a:off x="896112" y="6035040"/>
            <a:ext cx="50292" cy="50292"/>
          </a:xfrm>
          <a:prstGeom prst="ellipse">
            <a:avLst/>
          </a:prstGeom>
          <a:solidFill>
            <a:srgbClr val="FC2779">
              <a:alpha val="60000"/>
            </a:srgbClr>
          </a:solidFill>
          <a:ln/>
        </p:spPr>
      </p:sp>
      <p:sp>
        <p:nvSpPr>
          <p:cNvPr id="13" name="Shape 11"/>
          <p:cNvSpPr/>
          <p:nvPr/>
        </p:nvSpPr>
        <p:spPr>
          <a:xfrm>
            <a:off x="896112" y="6181344"/>
            <a:ext cx="50292" cy="50292"/>
          </a:xfrm>
          <a:prstGeom prst="ellipse">
            <a:avLst/>
          </a:prstGeom>
          <a:solidFill>
            <a:srgbClr val="FC2779">
              <a:alpha val="60000"/>
            </a:srgbClr>
          </a:solidFill>
          <a:ln/>
        </p:spPr>
      </p:sp>
      <p:sp>
        <p:nvSpPr>
          <p:cNvPr id="14" name="Shape 12"/>
          <p:cNvSpPr/>
          <p:nvPr/>
        </p:nvSpPr>
        <p:spPr>
          <a:xfrm>
            <a:off x="896112" y="6327648"/>
            <a:ext cx="50292" cy="50292"/>
          </a:xfrm>
          <a:prstGeom prst="ellipse">
            <a:avLst/>
          </a:prstGeom>
          <a:solidFill>
            <a:srgbClr val="FC2779">
              <a:alpha val="60000"/>
            </a:srgbClr>
          </a:solidFill>
          <a:ln/>
        </p:spPr>
      </p:sp>
      <p:sp>
        <p:nvSpPr>
          <p:cNvPr id="15" name="Shape 13"/>
          <p:cNvSpPr/>
          <p:nvPr/>
        </p:nvSpPr>
        <p:spPr>
          <a:xfrm>
            <a:off x="1042416" y="6035040"/>
            <a:ext cx="50292" cy="50292"/>
          </a:xfrm>
          <a:prstGeom prst="ellipse">
            <a:avLst/>
          </a:prstGeom>
          <a:solidFill>
            <a:srgbClr val="FC2779">
              <a:alpha val="60000"/>
            </a:srgbClr>
          </a:solidFill>
          <a:ln/>
        </p:spPr>
      </p:sp>
      <p:sp>
        <p:nvSpPr>
          <p:cNvPr id="16" name="Shape 14"/>
          <p:cNvSpPr/>
          <p:nvPr/>
        </p:nvSpPr>
        <p:spPr>
          <a:xfrm>
            <a:off x="1042416" y="6181344"/>
            <a:ext cx="50292" cy="50292"/>
          </a:xfrm>
          <a:prstGeom prst="ellipse">
            <a:avLst/>
          </a:prstGeom>
          <a:solidFill>
            <a:srgbClr val="FC2779">
              <a:alpha val="60000"/>
            </a:srgbClr>
          </a:solidFill>
          <a:ln/>
        </p:spPr>
      </p:sp>
      <p:sp>
        <p:nvSpPr>
          <p:cNvPr id="17" name="Shape 15"/>
          <p:cNvSpPr/>
          <p:nvPr/>
        </p:nvSpPr>
        <p:spPr>
          <a:xfrm>
            <a:off x="1042416" y="6327648"/>
            <a:ext cx="50292" cy="50292"/>
          </a:xfrm>
          <a:prstGeom prst="ellipse">
            <a:avLst/>
          </a:prstGeom>
          <a:solidFill>
            <a:srgbClr val="FC2779">
              <a:alpha val="60000"/>
            </a:srgbClr>
          </a:solidFill>
          <a:ln/>
        </p:spPr>
      </p:sp>
      <p:sp>
        <p:nvSpPr>
          <p:cNvPr id="18" name="Shape 16"/>
          <p:cNvSpPr/>
          <p:nvPr/>
        </p:nvSpPr>
        <p:spPr>
          <a:xfrm>
            <a:off x="1188720" y="6035040"/>
            <a:ext cx="50292" cy="50292"/>
          </a:xfrm>
          <a:prstGeom prst="ellipse">
            <a:avLst/>
          </a:prstGeom>
          <a:solidFill>
            <a:srgbClr val="FC2779">
              <a:alpha val="60000"/>
            </a:srgbClr>
          </a:solidFill>
          <a:ln/>
        </p:spPr>
      </p:sp>
      <p:sp>
        <p:nvSpPr>
          <p:cNvPr id="19" name="Shape 17"/>
          <p:cNvSpPr/>
          <p:nvPr/>
        </p:nvSpPr>
        <p:spPr>
          <a:xfrm>
            <a:off x="1188720" y="6181344"/>
            <a:ext cx="50292" cy="50292"/>
          </a:xfrm>
          <a:prstGeom prst="ellipse">
            <a:avLst/>
          </a:prstGeom>
          <a:solidFill>
            <a:srgbClr val="FC2779">
              <a:alpha val="60000"/>
            </a:srgbClr>
          </a:solidFill>
          <a:ln/>
        </p:spPr>
      </p:sp>
      <p:sp>
        <p:nvSpPr>
          <p:cNvPr id="20" name="Shape 18"/>
          <p:cNvSpPr/>
          <p:nvPr/>
        </p:nvSpPr>
        <p:spPr>
          <a:xfrm>
            <a:off x="1188720" y="6327648"/>
            <a:ext cx="50292" cy="50292"/>
          </a:xfrm>
          <a:prstGeom prst="ellipse">
            <a:avLst/>
          </a:prstGeom>
          <a:solidFill>
            <a:srgbClr val="FC2779">
              <a:alpha val="60000"/>
            </a:srgbClr>
          </a:solidFill>
          <a:ln/>
        </p:spPr>
      </p:sp>
      <p:sp>
        <p:nvSpPr>
          <p:cNvPr id="21" name="Shape 19"/>
          <p:cNvSpPr/>
          <p:nvPr/>
        </p:nvSpPr>
        <p:spPr>
          <a:xfrm>
            <a:off x="1335024" y="6035040"/>
            <a:ext cx="50292" cy="50292"/>
          </a:xfrm>
          <a:prstGeom prst="ellipse">
            <a:avLst/>
          </a:prstGeom>
          <a:solidFill>
            <a:srgbClr val="FC2779">
              <a:alpha val="60000"/>
            </a:srgbClr>
          </a:solidFill>
          <a:ln/>
        </p:spPr>
      </p:sp>
      <p:sp>
        <p:nvSpPr>
          <p:cNvPr id="22" name="Shape 20"/>
          <p:cNvSpPr/>
          <p:nvPr/>
        </p:nvSpPr>
        <p:spPr>
          <a:xfrm>
            <a:off x="1335024" y="6181344"/>
            <a:ext cx="50292" cy="50292"/>
          </a:xfrm>
          <a:prstGeom prst="ellipse">
            <a:avLst/>
          </a:prstGeom>
          <a:solidFill>
            <a:srgbClr val="FC2779">
              <a:alpha val="60000"/>
            </a:srgbClr>
          </a:solidFill>
          <a:ln/>
        </p:spPr>
      </p:sp>
      <p:sp>
        <p:nvSpPr>
          <p:cNvPr id="23" name="Shape 21"/>
          <p:cNvSpPr/>
          <p:nvPr/>
        </p:nvSpPr>
        <p:spPr>
          <a:xfrm>
            <a:off x="1335024" y="6327648"/>
            <a:ext cx="50292" cy="50292"/>
          </a:xfrm>
          <a:prstGeom prst="ellipse">
            <a:avLst/>
          </a:prstGeom>
          <a:solidFill>
            <a:srgbClr val="FC2779">
              <a:alpha val="60000"/>
            </a:srgbClr>
          </a:solidFill>
          <a:ln/>
        </p:spPr>
      </p:sp>
      <p:sp>
        <p:nvSpPr>
          <p:cNvPr id="24" name="Shape 22"/>
          <p:cNvSpPr/>
          <p:nvPr/>
        </p:nvSpPr>
        <p:spPr>
          <a:xfrm>
            <a:off x="1481328" y="6035040"/>
            <a:ext cx="50292" cy="50292"/>
          </a:xfrm>
          <a:prstGeom prst="ellipse">
            <a:avLst/>
          </a:prstGeom>
          <a:solidFill>
            <a:srgbClr val="FC2779">
              <a:alpha val="60000"/>
            </a:srgbClr>
          </a:solidFill>
          <a:ln/>
        </p:spPr>
      </p:sp>
      <p:sp>
        <p:nvSpPr>
          <p:cNvPr id="25" name="Shape 23"/>
          <p:cNvSpPr/>
          <p:nvPr/>
        </p:nvSpPr>
        <p:spPr>
          <a:xfrm>
            <a:off x="1481328" y="6181344"/>
            <a:ext cx="50292" cy="50292"/>
          </a:xfrm>
          <a:prstGeom prst="ellipse">
            <a:avLst/>
          </a:prstGeom>
          <a:solidFill>
            <a:srgbClr val="FC2779">
              <a:alpha val="60000"/>
            </a:srgbClr>
          </a:solidFill>
          <a:ln/>
        </p:spPr>
      </p:sp>
      <p:sp>
        <p:nvSpPr>
          <p:cNvPr id="26" name="Shape 24"/>
          <p:cNvSpPr/>
          <p:nvPr/>
        </p:nvSpPr>
        <p:spPr>
          <a:xfrm>
            <a:off x="1481328" y="6327648"/>
            <a:ext cx="50292" cy="50292"/>
          </a:xfrm>
          <a:prstGeom prst="ellipse">
            <a:avLst/>
          </a:prstGeom>
          <a:solidFill>
            <a:srgbClr val="FC2779">
              <a:alpha val="60000"/>
            </a:srgbClr>
          </a:solidFill>
          <a:ln/>
        </p:spPr>
      </p:sp>
      <p:sp>
        <p:nvSpPr>
          <p:cNvPr id="27" name="Shape 25"/>
          <p:cNvSpPr/>
          <p:nvPr/>
        </p:nvSpPr>
        <p:spPr>
          <a:xfrm>
            <a:off x="1627632" y="6035040"/>
            <a:ext cx="50292" cy="50292"/>
          </a:xfrm>
          <a:prstGeom prst="ellipse">
            <a:avLst/>
          </a:prstGeom>
          <a:solidFill>
            <a:srgbClr val="FC2779">
              <a:alpha val="60000"/>
            </a:srgbClr>
          </a:solidFill>
          <a:ln/>
        </p:spPr>
      </p:sp>
      <p:sp>
        <p:nvSpPr>
          <p:cNvPr id="28" name="Shape 26"/>
          <p:cNvSpPr/>
          <p:nvPr/>
        </p:nvSpPr>
        <p:spPr>
          <a:xfrm>
            <a:off x="1627632" y="6181344"/>
            <a:ext cx="50292" cy="50292"/>
          </a:xfrm>
          <a:prstGeom prst="ellipse">
            <a:avLst/>
          </a:prstGeom>
          <a:solidFill>
            <a:srgbClr val="FC2779">
              <a:alpha val="60000"/>
            </a:srgbClr>
          </a:solidFill>
          <a:ln/>
        </p:spPr>
      </p:sp>
      <p:sp>
        <p:nvSpPr>
          <p:cNvPr id="29" name="Shape 27"/>
          <p:cNvSpPr/>
          <p:nvPr/>
        </p:nvSpPr>
        <p:spPr>
          <a:xfrm>
            <a:off x="1627632" y="6327648"/>
            <a:ext cx="50292" cy="50292"/>
          </a:xfrm>
          <a:prstGeom prst="ellipse">
            <a:avLst/>
          </a:prstGeom>
          <a:solidFill>
            <a:srgbClr val="FC2779">
              <a:alpha val="60000"/>
            </a:srgbClr>
          </a:solidFill>
          <a:ln/>
        </p:spPr>
      </p:sp>
      <p:sp>
        <p:nvSpPr>
          <p:cNvPr id="30" name="Shape 28"/>
          <p:cNvSpPr/>
          <p:nvPr/>
        </p:nvSpPr>
        <p:spPr>
          <a:xfrm>
            <a:off x="1773936" y="6035040"/>
            <a:ext cx="50292" cy="50292"/>
          </a:xfrm>
          <a:prstGeom prst="ellipse">
            <a:avLst/>
          </a:prstGeom>
          <a:solidFill>
            <a:srgbClr val="FC2779">
              <a:alpha val="60000"/>
            </a:srgbClr>
          </a:solidFill>
          <a:ln/>
        </p:spPr>
      </p:sp>
      <p:sp>
        <p:nvSpPr>
          <p:cNvPr id="31" name="Shape 29"/>
          <p:cNvSpPr/>
          <p:nvPr/>
        </p:nvSpPr>
        <p:spPr>
          <a:xfrm>
            <a:off x="1773936" y="6181344"/>
            <a:ext cx="50292" cy="50292"/>
          </a:xfrm>
          <a:prstGeom prst="ellipse">
            <a:avLst/>
          </a:prstGeom>
          <a:solidFill>
            <a:srgbClr val="FC2779">
              <a:alpha val="60000"/>
            </a:srgbClr>
          </a:solidFill>
          <a:ln/>
        </p:spPr>
      </p:sp>
      <p:sp>
        <p:nvSpPr>
          <p:cNvPr id="32" name="Shape 30"/>
          <p:cNvSpPr/>
          <p:nvPr/>
        </p:nvSpPr>
        <p:spPr>
          <a:xfrm>
            <a:off x="1773936" y="6327648"/>
            <a:ext cx="50292" cy="50292"/>
          </a:xfrm>
          <a:prstGeom prst="ellipse">
            <a:avLst/>
          </a:prstGeom>
          <a:solidFill>
            <a:srgbClr val="FC2779">
              <a:alpha val="60000"/>
            </a:srgbClr>
          </a:solidFill>
          <a:ln/>
        </p:spPr>
      </p:sp>
      <p:sp>
        <p:nvSpPr>
          <p:cNvPr id="33" name="Text 31"/>
          <p:cNvSpPr/>
          <p:nvPr/>
        </p:nvSpPr>
        <p:spPr>
          <a:xfrm>
            <a:off x="640080" y="777240"/>
            <a:ext cx="7315200" cy="365760"/>
          </a:xfrm>
          <a:prstGeom prst="rect">
            <a:avLst/>
          </a:prstGeom>
          <a:noFill/>
          <a:ln/>
        </p:spPr>
        <p:txBody>
          <a:bodyPr wrap="square" lIns="0" tIns="0" rIns="0" bIns="0" rtlCol="0" anchor="ctr"/>
          <a:lstStyle/>
          <a:p>
            <a:pPr marL="0" indent="0">
              <a:buNone/>
            </a:pPr>
            <a:r>
              <a:rPr lang="en-US" sz="1300" b="1" kern="0" spc="300" dirty="0">
                <a:solidFill>
                  <a:srgbClr val="FC2779"/>
                </a:solidFill>
                <a:latin typeface="Calibri" pitchFamily="34" charset="0"/>
                <a:ea typeface="Calibri" pitchFamily="34" charset="-122"/>
                <a:cs typeface="Calibri" pitchFamily="34" charset="-120"/>
              </a:rPr>
              <a:t>A CONFIDENCE HANDOFF PLATFORM FOR NYKAA</a:t>
            </a:r>
            <a:endParaRPr lang="en-US" sz="1300" dirty="0"/>
          </a:p>
        </p:txBody>
      </p:sp>
      <p:sp>
        <p:nvSpPr>
          <p:cNvPr id="34" name="Text 32"/>
          <p:cNvSpPr/>
          <p:nvPr/>
        </p:nvSpPr>
        <p:spPr>
          <a:xfrm>
            <a:off x="594360" y="1188720"/>
            <a:ext cx="6583680" cy="1920240"/>
          </a:xfrm>
          <a:prstGeom prst="rect">
            <a:avLst/>
          </a:prstGeom>
          <a:noFill/>
          <a:ln/>
        </p:spPr>
        <p:txBody>
          <a:bodyPr wrap="square" lIns="0" tIns="0" rIns="0" bIns="0" rtlCol="0" anchor="ctr"/>
          <a:lstStyle/>
          <a:p>
            <a:pPr marL="0" indent="0">
              <a:lnSpc>
                <a:spcPct val="102000"/>
              </a:lnSpc>
              <a:buNone/>
            </a:pPr>
            <a:r>
              <a:rPr lang="en-US" sz="5800" b="1" dirty="0">
                <a:solidFill>
                  <a:srgbClr val="FFFFFF"/>
                </a:solidFill>
                <a:latin typeface="Cambria" pitchFamily="34" charset="0"/>
                <a:ea typeface="Cambria" pitchFamily="34" charset="-122"/>
                <a:cs typeface="Cambria" pitchFamily="34" charset="-120"/>
              </a:rPr>
              <a:t>Who Taught</a:t>
            </a:r>
            <a:endParaRPr lang="en-US" sz="5800" dirty="0"/>
          </a:p>
          <a:p>
            <a:pPr marL="0" indent="0">
              <a:lnSpc>
                <a:spcPct val="102000"/>
              </a:lnSpc>
              <a:buNone/>
            </a:pPr>
            <a:r>
              <a:rPr lang="en-US" sz="5800" b="1" dirty="0">
                <a:solidFill>
                  <a:srgbClr val="FFFFFF"/>
                </a:solidFill>
                <a:latin typeface="Cambria" pitchFamily="34" charset="0"/>
                <a:ea typeface="Cambria" pitchFamily="34" charset="-122"/>
                <a:cs typeface="Cambria" pitchFamily="34" charset="-120"/>
              </a:rPr>
              <a:t>You?</a:t>
            </a:r>
            <a:endParaRPr lang="en-US" sz="5800" dirty="0"/>
          </a:p>
        </p:txBody>
      </p:sp>
      <p:sp>
        <p:nvSpPr>
          <p:cNvPr id="35" name="Text 33"/>
          <p:cNvSpPr/>
          <p:nvPr/>
        </p:nvSpPr>
        <p:spPr>
          <a:xfrm>
            <a:off x="640080" y="3246120"/>
            <a:ext cx="7315200" cy="548640"/>
          </a:xfrm>
          <a:prstGeom prst="rect">
            <a:avLst/>
          </a:prstGeom>
          <a:noFill/>
          <a:ln/>
        </p:spPr>
        <p:txBody>
          <a:bodyPr wrap="square" lIns="0" tIns="0" rIns="0" bIns="0" rtlCol="0" anchor="ctr"/>
          <a:lstStyle/>
          <a:p>
            <a:pPr marL="0" indent="0">
              <a:buNone/>
            </a:pPr>
            <a:r>
              <a:rPr lang="en-US" sz="2200" i="1" dirty="0">
                <a:solidFill>
                  <a:srgbClr val="FC2779"/>
                </a:solidFill>
                <a:latin typeface="Cambria" pitchFamily="34" charset="0"/>
                <a:ea typeface="Cambria" pitchFamily="34" charset="-122"/>
                <a:cs typeface="Cambria" pitchFamily="34" charset="-120"/>
              </a:rPr>
              <a:t>Pass it on.</a:t>
            </a:r>
            <a:endParaRPr lang="en-US" sz="2200" dirty="0"/>
          </a:p>
        </p:txBody>
      </p:sp>
      <p:sp>
        <p:nvSpPr>
          <p:cNvPr id="36" name="Text 34"/>
          <p:cNvSpPr/>
          <p:nvPr/>
        </p:nvSpPr>
        <p:spPr>
          <a:xfrm>
            <a:off x="640080" y="3931920"/>
            <a:ext cx="6675120" cy="1188720"/>
          </a:xfrm>
          <a:prstGeom prst="rect">
            <a:avLst/>
          </a:prstGeom>
          <a:noFill/>
          <a:ln/>
        </p:spPr>
        <p:txBody>
          <a:bodyPr wrap="square" lIns="0" tIns="0" rIns="0" bIns="0" rtlCol="0" anchor="ctr"/>
          <a:lstStyle/>
          <a:p>
            <a:pPr marL="0" indent="0">
              <a:lnSpc>
                <a:spcPct val="130000"/>
              </a:lnSpc>
              <a:buNone/>
            </a:pPr>
            <a:r>
              <a:rPr lang="en-US" sz="1350" dirty="0">
                <a:solidFill>
                  <a:srgbClr val="E8E0E3"/>
                </a:solidFill>
                <a:latin typeface="Calibri" pitchFamily="34" charset="0"/>
                <a:ea typeface="Calibri" pitchFamily="34" charset="-122"/>
                <a:cs typeface="Calibri" pitchFamily="34" charset="-120"/>
              </a:rPr>
              <a:t>Nykaa's biggest asset isn't its catalogue — it's trust, passed from person to person. This platform turns that private, personal moment of being taught a beauty trick into a visible, shareable, never-ending chain.</a:t>
            </a:r>
            <a:endParaRPr lang="en-US" sz="1350" dirty="0"/>
          </a:p>
        </p:txBody>
      </p:sp>
      <p:sp>
        <p:nvSpPr>
          <p:cNvPr id="37" name="Text 35"/>
          <p:cNvSpPr/>
          <p:nvPr/>
        </p:nvSpPr>
        <p:spPr>
          <a:xfrm>
            <a:off x="640080" y="6217920"/>
            <a:ext cx="7315200" cy="365760"/>
          </a:xfrm>
          <a:prstGeom prst="rect">
            <a:avLst/>
          </a:prstGeom>
          <a:noFill/>
          <a:ln/>
        </p:spPr>
        <p:txBody>
          <a:bodyPr wrap="square" lIns="0" tIns="0" rIns="0" bIns="0" rtlCol="0" anchor="ctr"/>
          <a:lstStyle/>
          <a:p>
            <a:pPr marL="0" indent="0">
              <a:buNone/>
            </a:pPr>
            <a:r>
              <a:rPr lang="en-US" sz="1000" kern="0" spc="200" dirty="0">
                <a:solidFill>
                  <a:srgbClr val="8C7C82"/>
                </a:solidFill>
                <a:latin typeface="Calibri" pitchFamily="34" charset="0"/>
                <a:ea typeface="Calibri" pitchFamily="34" charset="-122"/>
                <a:cs typeface="Calibri" pitchFamily="34" charset="-120"/>
              </a:rPr>
              <a:t>SOCIAL MEDIA &amp; CONTENT STRATEGY  ·  SPEC PROJECT</a:t>
            </a:r>
            <a:endParaRPr lang="en-US" sz="1000" dirty="0"/>
          </a:p>
        </p:txBody>
      </p:sp>
      <p:sp>
        <p:nvSpPr>
          <p:cNvPr id="38" name="Shape 36"/>
          <p:cNvSpPr/>
          <p:nvPr/>
        </p:nvSpPr>
        <p:spPr>
          <a:xfrm>
            <a:off x="8092440" y="685800"/>
            <a:ext cx="3246120" cy="5486400"/>
          </a:xfrm>
          <a:prstGeom prst="roundRect">
            <a:avLst>
              <a:gd name="adj" fmla="val 6197"/>
            </a:avLst>
          </a:prstGeom>
          <a:solidFill>
            <a:srgbClr val="1A1A1A"/>
          </a:solidFill>
          <a:ln/>
        </p:spPr>
      </p:sp>
      <p:sp>
        <p:nvSpPr>
          <p:cNvPr id="39" name="Shape 37"/>
          <p:cNvSpPr/>
          <p:nvPr/>
        </p:nvSpPr>
        <p:spPr>
          <a:xfrm>
            <a:off x="8156448" y="749808"/>
            <a:ext cx="3118104" cy="5358384"/>
          </a:xfrm>
          <a:prstGeom prst="roundRect">
            <a:avLst>
              <a:gd name="adj" fmla="val 4692"/>
            </a:avLst>
          </a:prstGeom>
          <a:solidFill>
            <a:srgbClr val="FFFFFF"/>
          </a:solidFill>
          <a:ln/>
        </p:spPr>
      </p:sp>
      <p:sp>
        <p:nvSpPr>
          <p:cNvPr id="40" name="Shape 38"/>
          <p:cNvSpPr/>
          <p:nvPr/>
        </p:nvSpPr>
        <p:spPr>
          <a:xfrm>
            <a:off x="8321040" y="914400"/>
            <a:ext cx="292608" cy="292608"/>
          </a:xfrm>
          <a:prstGeom prst="ellipse">
            <a:avLst/>
          </a:prstGeom>
          <a:solidFill>
            <a:srgbClr val="FC2779"/>
          </a:solidFill>
          <a:ln/>
        </p:spPr>
      </p:sp>
      <p:sp>
        <p:nvSpPr>
          <p:cNvPr id="41" name="Text 39"/>
          <p:cNvSpPr/>
          <p:nvPr/>
        </p:nvSpPr>
        <p:spPr>
          <a:xfrm>
            <a:off x="8686800" y="923544"/>
            <a:ext cx="1746504" cy="219456"/>
          </a:xfrm>
          <a:prstGeom prst="rect">
            <a:avLst/>
          </a:prstGeom>
          <a:noFill/>
          <a:ln/>
        </p:spPr>
        <p:txBody>
          <a:bodyPr wrap="square" lIns="0" tIns="0" rIns="0" bIns="0" rtlCol="0" anchor="ctr"/>
          <a:lstStyle/>
          <a:p>
            <a:pPr marL="0" indent="0">
              <a:buNone/>
            </a:pPr>
            <a:r>
              <a:rPr lang="en-US" sz="950" b="1" dirty="0">
                <a:solidFill>
                  <a:srgbClr val="1A1A1A"/>
                </a:solidFill>
                <a:latin typeface="Calibri" pitchFamily="34" charset="0"/>
                <a:ea typeface="Calibri" pitchFamily="34" charset="-122"/>
                <a:cs typeface="Calibri" pitchFamily="34" charset="-120"/>
              </a:rPr>
              <a:t>@beautybysimran</a:t>
            </a:r>
            <a:endParaRPr lang="en-US" sz="950" dirty="0"/>
          </a:p>
        </p:txBody>
      </p:sp>
      <p:sp>
        <p:nvSpPr>
          <p:cNvPr id="42" name="Text 40"/>
          <p:cNvSpPr/>
          <p:nvPr/>
        </p:nvSpPr>
        <p:spPr>
          <a:xfrm>
            <a:off x="10314432" y="932688"/>
            <a:ext cx="868680" cy="201168"/>
          </a:xfrm>
          <a:prstGeom prst="rect">
            <a:avLst/>
          </a:prstGeom>
          <a:noFill/>
          <a:ln/>
        </p:spPr>
        <p:txBody>
          <a:bodyPr wrap="square" lIns="0" tIns="0" rIns="0" bIns="0" rtlCol="0" anchor="ctr"/>
          <a:lstStyle/>
          <a:p>
            <a:pPr marL="0" indent="0" algn="r">
              <a:buNone/>
            </a:pPr>
            <a:r>
              <a:rPr lang="en-US" sz="800" b="1" dirty="0">
                <a:solidFill>
                  <a:srgbClr val="FC2779"/>
                </a:solidFill>
                <a:latin typeface="Calibri" pitchFamily="34" charset="0"/>
                <a:ea typeface="Calibri" pitchFamily="34" charset="-122"/>
                <a:cs typeface="Calibri" pitchFamily="34" charset="-120"/>
              </a:rPr>
              <a:t>Following</a:t>
            </a:r>
            <a:endParaRPr lang="en-US" sz="800" dirty="0"/>
          </a:p>
        </p:txBody>
      </p:sp>
      <p:sp>
        <p:nvSpPr>
          <p:cNvPr id="43" name="Shape 41"/>
          <p:cNvSpPr/>
          <p:nvPr/>
        </p:nvSpPr>
        <p:spPr>
          <a:xfrm>
            <a:off x="8156448" y="1316736"/>
            <a:ext cx="3118104" cy="3621024"/>
          </a:xfrm>
          <a:prstGeom prst="rect">
            <a:avLst/>
          </a:prstGeom>
          <a:solidFill>
            <a:srgbClr val="FCE4EC"/>
          </a:solidFill>
          <a:ln/>
        </p:spPr>
      </p:sp>
      <p:sp>
        <p:nvSpPr>
          <p:cNvPr id="44" name="Shape 42"/>
          <p:cNvSpPr/>
          <p:nvPr/>
        </p:nvSpPr>
        <p:spPr>
          <a:xfrm>
            <a:off x="9235440" y="2647188"/>
            <a:ext cx="960120" cy="960120"/>
          </a:xfrm>
          <a:prstGeom prst="ellipse">
            <a:avLst/>
          </a:prstGeom>
          <a:solidFill>
            <a:srgbClr val="FFFFFF"/>
          </a:solidFill>
          <a:ln/>
        </p:spPr>
      </p:sp>
      <p:sp>
        <p:nvSpPr>
          <p:cNvPr id="46" name="Shape 43"/>
          <p:cNvSpPr/>
          <p:nvPr/>
        </p:nvSpPr>
        <p:spPr>
          <a:xfrm>
            <a:off x="8156448" y="4553712"/>
            <a:ext cx="3118104" cy="384048"/>
          </a:xfrm>
          <a:prstGeom prst="rect">
            <a:avLst/>
          </a:prstGeom>
          <a:solidFill>
            <a:srgbClr val="1A1A1A">
              <a:alpha val="70000"/>
            </a:srgbClr>
          </a:solidFill>
          <a:ln/>
        </p:spPr>
      </p:sp>
      <p:sp>
        <p:nvSpPr>
          <p:cNvPr id="47" name="Text 44"/>
          <p:cNvSpPr/>
          <p:nvPr/>
        </p:nvSpPr>
        <p:spPr>
          <a:xfrm>
            <a:off x="8284464" y="4572000"/>
            <a:ext cx="2862072" cy="347472"/>
          </a:xfrm>
          <a:prstGeom prst="rect">
            <a:avLst/>
          </a:prstGeom>
          <a:noFill/>
          <a:ln/>
        </p:spPr>
        <p:txBody>
          <a:bodyPr wrap="square" lIns="0" tIns="0" rIns="0" bIns="0"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Who taught you this?</a:t>
            </a:r>
            <a:endParaRPr lang="en-US" sz="1100" dirty="0"/>
          </a:p>
        </p:txBody>
      </p:sp>
      <p:pic>
        <p:nvPicPr>
          <p:cNvPr id="48" name="Image 1" descr="/home/claude/icons/heart_black.png"/>
          <p:cNvPicPr>
            <a:picLocks noChangeAspect="1"/>
          </p:cNvPicPr>
          <p:nvPr/>
        </p:nvPicPr>
        <p:blipFill>
          <a:blip r:embed="rId3"/>
          <a:stretch>
            <a:fillRect/>
          </a:stretch>
        </p:blipFill>
        <p:spPr>
          <a:xfrm>
            <a:off x="8321040" y="5065776"/>
            <a:ext cx="201168" cy="201168"/>
          </a:xfrm>
          <a:prstGeom prst="rect">
            <a:avLst/>
          </a:prstGeom>
        </p:spPr>
      </p:pic>
      <p:sp>
        <p:nvSpPr>
          <p:cNvPr id="49" name="Text 45"/>
          <p:cNvSpPr/>
          <p:nvPr/>
        </p:nvSpPr>
        <p:spPr>
          <a:xfrm>
            <a:off x="8558784" y="5047488"/>
            <a:ext cx="548640" cy="237744"/>
          </a:xfrm>
          <a:prstGeom prst="rect">
            <a:avLst/>
          </a:prstGeom>
          <a:noFill/>
          <a:ln/>
        </p:spPr>
        <p:txBody>
          <a:bodyPr wrap="square" lIns="0" tIns="0" rIns="0" bIns="0" rtlCol="0" anchor="ctr"/>
          <a:lstStyle/>
          <a:p>
            <a:pPr marL="0" indent="0">
              <a:buNone/>
            </a:pPr>
            <a:r>
              <a:rPr lang="en-US" sz="900" dirty="0">
                <a:solidFill>
                  <a:srgbClr val="3A3A3A"/>
                </a:solidFill>
                <a:latin typeface="Calibri" pitchFamily="34" charset="0"/>
                <a:ea typeface="Calibri" pitchFamily="34" charset="-122"/>
                <a:cs typeface="Calibri" pitchFamily="34" charset="-120"/>
              </a:rPr>
              <a:t>3,204</a:t>
            </a:r>
            <a:endParaRPr lang="en-US" sz="900" dirty="0"/>
          </a:p>
        </p:txBody>
      </p:sp>
      <p:pic>
        <p:nvPicPr>
          <p:cNvPr id="50" name="Image 2" descr="/home/claude/icons/message_black.png"/>
          <p:cNvPicPr>
            <a:picLocks noChangeAspect="1"/>
          </p:cNvPicPr>
          <p:nvPr/>
        </p:nvPicPr>
        <p:blipFill>
          <a:blip r:embed="rId4"/>
          <a:stretch>
            <a:fillRect/>
          </a:stretch>
        </p:blipFill>
        <p:spPr>
          <a:xfrm>
            <a:off x="9116568" y="5065776"/>
            <a:ext cx="201168" cy="201168"/>
          </a:xfrm>
          <a:prstGeom prst="rect">
            <a:avLst/>
          </a:prstGeom>
        </p:spPr>
      </p:pic>
      <p:sp>
        <p:nvSpPr>
          <p:cNvPr id="51" name="Text 46"/>
          <p:cNvSpPr/>
          <p:nvPr/>
        </p:nvSpPr>
        <p:spPr>
          <a:xfrm>
            <a:off x="9354312" y="5047488"/>
            <a:ext cx="548640" cy="237744"/>
          </a:xfrm>
          <a:prstGeom prst="rect">
            <a:avLst/>
          </a:prstGeom>
          <a:noFill/>
          <a:ln/>
        </p:spPr>
        <p:txBody>
          <a:bodyPr wrap="square" lIns="0" tIns="0" rIns="0" bIns="0" rtlCol="0" anchor="ctr"/>
          <a:lstStyle/>
          <a:p>
            <a:pPr marL="0" indent="0">
              <a:buNone/>
            </a:pPr>
            <a:r>
              <a:rPr lang="en-US" sz="900" dirty="0">
                <a:solidFill>
                  <a:srgbClr val="3A3A3A"/>
                </a:solidFill>
                <a:latin typeface="Calibri" pitchFamily="34" charset="0"/>
                <a:ea typeface="Calibri" pitchFamily="34" charset="-122"/>
                <a:cs typeface="Calibri" pitchFamily="34" charset="-120"/>
              </a:rPr>
              <a:t>412</a:t>
            </a:r>
            <a:endParaRPr lang="en-US" sz="900" dirty="0"/>
          </a:p>
        </p:txBody>
      </p:sp>
      <p:pic>
        <p:nvPicPr>
          <p:cNvPr id="52" name="Image 3" descr="/home/claude/icons/repeat_black.png"/>
          <p:cNvPicPr>
            <a:picLocks noChangeAspect="1"/>
          </p:cNvPicPr>
          <p:nvPr/>
        </p:nvPicPr>
        <p:blipFill>
          <a:blip r:embed="rId5"/>
          <a:stretch>
            <a:fillRect/>
          </a:stretch>
        </p:blipFill>
        <p:spPr>
          <a:xfrm>
            <a:off x="9912096" y="5065776"/>
            <a:ext cx="201168" cy="201168"/>
          </a:xfrm>
          <a:prstGeom prst="rect">
            <a:avLst/>
          </a:prstGeom>
        </p:spPr>
      </p:pic>
      <p:sp>
        <p:nvSpPr>
          <p:cNvPr id="53" name="Text 47"/>
          <p:cNvSpPr/>
          <p:nvPr/>
        </p:nvSpPr>
        <p:spPr>
          <a:xfrm>
            <a:off x="8321040" y="5376672"/>
            <a:ext cx="2788920" cy="457200"/>
          </a:xfrm>
          <a:prstGeom prst="rect">
            <a:avLst/>
          </a:prstGeom>
          <a:noFill/>
          <a:ln/>
        </p:spPr>
        <p:txBody>
          <a:bodyPr wrap="square" lIns="0" tIns="0" rIns="0" bIns="0" rtlCol="0" anchor="ctr"/>
          <a:lstStyle/>
          <a:p>
            <a:pPr marL="0" indent="0">
              <a:lnSpc>
                <a:spcPct val="120000"/>
              </a:lnSpc>
              <a:buNone/>
            </a:pPr>
            <a:r>
              <a:rPr lang="en-US" sz="900" b="1" dirty="0">
                <a:solidFill>
                  <a:srgbClr val="FC2779"/>
                </a:solidFill>
                <a:latin typeface="Calibri" pitchFamily="34" charset="0"/>
                <a:ea typeface="Calibri" pitchFamily="34" charset="-122"/>
                <a:cs typeface="Calibri" pitchFamily="34" charset="-120"/>
              </a:rPr>
              <a:t>@simran taught @asha this look</a:t>
            </a:r>
            <a:endParaRPr lang="en-US" sz="900" dirty="0"/>
          </a:p>
          <a:p>
            <a:pPr marL="0" indent="0">
              <a:lnSpc>
                <a:spcPct val="120000"/>
              </a:lnSpc>
              <a:buNone/>
            </a:pPr>
            <a:r>
              <a:rPr lang="en-US" sz="900" b="1" dirty="0">
                <a:solidFill>
                  <a:srgbClr val="FC2779"/>
                </a:solidFill>
                <a:latin typeface="Calibri" pitchFamily="34" charset="0"/>
                <a:ea typeface="Calibri" pitchFamily="34" charset="-122"/>
                <a:cs typeface="Calibri" pitchFamily="34" charset="-120"/>
              </a:rPr>
              <a:t>#WhoTaughtYou  #NykaaNetwork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75720" y="365760"/>
            <a:ext cx="41148" cy="41148"/>
          </a:xfrm>
          <a:prstGeom prst="ellipse">
            <a:avLst/>
          </a:prstGeom>
          <a:solidFill>
            <a:srgbClr val="FC2779">
              <a:alpha val="45000"/>
            </a:srgbClr>
          </a:solidFill>
          <a:ln/>
        </p:spPr>
      </p:sp>
      <p:sp>
        <p:nvSpPr>
          <p:cNvPr id="3" name="Shape 1"/>
          <p:cNvSpPr/>
          <p:nvPr/>
        </p:nvSpPr>
        <p:spPr>
          <a:xfrm>
            <a:off x="11475720" y="484632"/>
            <a:ext cx="41148" cy="41148"/>
          </a:xfrm>
          <a:prstGeom prst="ellipse">
            <a:avLst/>
          </a:prstGeom>
          <a:solidFill>
            <a:srgbClr val="FC2779">
              <a:alpha val="45000"/>
            </a:srgbClr>
          </a:solidFill>
          <a:ln/>
        </p:spPr>
      </p:sp>
      <p:sp>
        <p:nvSpPr>
          <p:cNvPr id="4" name="Shape 2"/>
          <p:cNvSpPr/>
          <p:nvPr/>
        </p:nvSpPr>
        <p:spPr>
          <a:xfrm>
            <a:off x="11475720" y="603504"/>
            <a:ext cx="41148" cy="41148"/>
          </a:xfrm>
          <a:prstGeom prst="ellipse">
            <a:avLst/>
          </a:prstGeom>
          <a:solidFill>
            <a:srgbClr val="FC2779">
              <a:alpha val="45000"/>
            </a:srgbClr>
          </a:solidFill>
          <a:ln/>
        </p:spPr>
      </p:sp>
      <p:sp>
        <p:nvSpPr>
          <p:cNvPr id="5" name="Shape 3"/>
          <p:cNvSpPr/>
          <p:nvPr/>
        </p:nvSpPr>
        <p:spPr>
          <a:xfrm>
            <a:off x="11475720" y="722376"/>
            <a:ext cx="41148" cy="41148"/>
          </a:xfrm>
          <a:prstGeom prst="ellipse">
            <a:avLst/>
          </a:prstGeom>
          <a:solidFill>
            <a:srgbClr val="FC2779">
              <a:alpha val="45000"/>
            </a:srgbClr>
          </a:solidFill>
          <a:ln/>
        </p:spPr>
      </p:sp>
      <p:sp>
        <p:nvSpPr>
          <p:cNvPr id="6" name="Shape 4"/>
          <p:cNvSpPr/>
          <p:nvPr/>
        </p:nvSpPr>
        <p:spPr>
          <a:xfrm>
            <a:off x="11475720" y="841248"/>
            <a:ext cx="41148" cy="41148"/>
          </a:xfrm>
          <a:prstGeom prst="ellipse">
            <a:avLst/>
          </a:prstGeom>
          <a:solidFill>
            <a:srgbClr val="FC2779">
              <a:alpha val="45000"/>
            </a:srgbClr>
          </a:solidFill>
          <a:ln/>
        </p:spPr>
      </p:sp>
      <p:sp>
        <p:nvSpPr>
          <p:cNvPr id="7" name="Shape 5"/>
          <p:cNvSpPr/>
          <p:nvPr/>
        </p:nvSpPr>
        <p:spPr>
          <a:xfrm>
            <a:off x="11475720" y="960120"/>
            <a:ext cx="41148" cy="41148"/>
          </a:xfrm>
          <a:prstGeom prst="ellipse">
            <a:avLst/>
          </a:prstGeom>
          <a:solidFill>
            <a:srgbClr val="FC2779">
              <a:alpha val="45000"/>
            </a:srgbClr>
          </a:solidFill>
          <a:ln/>
        </p:spPr>
      </p:sp>
      <p:sp>
        <p:nvSpPr>
          <p:cNvPr id="8" name="Shape 6"/>
          <p:cNvSpPr/>
          <p:nvPr/>
        </p:nvSpPr>
        <p:spPr>
          <a:xfrm>
            <a:off x="11475720" y="1078992"/>
            <a:ext cx="41148" cy="41148"/>
          </a:xfrm>
          <a:prstGeom prst="ellipse">
            <a:avLst/>
          </a:prstGeom>
          <a:solidFill>
            <a:srgbClr val="FC2779">
              <a:alpha val="45000"/>
            </a:srgbClr>
          </a:solidFill>
          <a:ln/>
        </p:spPr>
      </p:sp>
      <p:sp>
        <p:nvSpPr>
          <p:cNvPr id="9" name="Shape 7"/>
          <p:cNvSpPr/>
          <p:nvPr/>
        </p:nvSpPr>
        <p:spPr>
          <a:xfrm>
            <a:off x="11475720" y="1197864"/>
            <a:ext cx="41148" cy="41148"/>
          </a:xfrm>
          <a:prstGeom prst="ellipse">
            <a:avLst/>
          </a:prstGeom>
          <a:solidFill>
            <a:srgbClr val="FC2779">
              <a:alpha val="45000"/>
            </a:srgbClr>
          </a:solidFill>
          <a:ln/>
        </p:spPr>
      </p:sp>
      <p:sp>
        <p:nvSpPr>
          <p:cNvPr id="10" name="Shape 8"/>
          <p:cNvSpPr/>
          <p:nvPr/>
        </p:nvSpPr>
        <p:spPr>
          <a:xfrm>
            <a:off x="11594592" y="365760"/>
            <a:ext cx="41148" cy="41148"/>
          </a:xfrm>
          <a:prstGeom prst="ellipse">
            <a:avLst/>
          </a:prstGeom>
          <a:solidFill>
            <a:srgbClr val="FC2779">
              <a:alpha val="45000"/>
            </a:srgbClr>
          </a:solidFill>
          <a:ln/>
        </p:spPr>
      </p:sp>
      <p:sp>
        <p:nvSpPr>
          <p:cNvPr id="11" name="Shape 9"/>
          <p:cNvSpPr/>
          <p:nvPr/>
        </p:nvSpPr>
        <p:spPr>
          <a:xfrm>
            <a:off x="11594592" y="484632"/>
            <a:ext cx="41148" cy="41148"/>
          </a:xfrm>
          <a:prstGeom prst="ellipse">
            <a:avLst/>
          </a:prstGeom>
          <a:solidFill>
            <a:srgbClr val="FC2779">
              <a:alpha val="45000"/>
            </a:srgbClr>
          </a:solidFill>
          <a:ln/>
        </p:spPr>
      </p:sp>
      <p:sp>
        <p:nvSpPr>
          <p:cNvPr id="12" name="Shape 10"/>
          <p:cNvSpPr/>
          <p:nvPr/>
        </p:nvSpPr>
        <p:spPr>
          <a:xfrm>
            <a:off x="11594592" y="603504"/>
            <a:ext cx="41148" cy="41148"/>
          </a:xfrm>
          <a:prstGeom prst="ellipse">
            <a:avLst/>
          </a:prstGeom>
          <a:solidFill>
            <a:srgbClr val="FC2779">
              <a:alpha val="45000"/>
            </a:srgbClr>
          </a:solidFill>
          <a:ln/>
        </p:spPr>
      </p:sp>
      <p:sp>
        <p:nvSpPr>
          <p:cNvPr id="13" name="Shape 11"/>
          <p:cNvSpPr/>
          <p:nvPr/>
        </p:nvSpPr>
        <p:spPr>
          <a:xfrm>
            <a:off x="11594592" y="722376"/>
            <a:ext cx="41148" cy="41148"/>
          </a:xfrm>
          <a:prstGeom prst="ellipse">
            <a:avLst/>
          </a:prstGeom>
          <a:solidFill>
            <a:srgbClr val="FC2779">
              <a:alpha val="45000"/>
            </a:srgbClr>
          </a:solidFill>
          <a:ln/>
        </p:spPr>
      </p:sp>
      <p:sp>
        <p:nvSpPr>
          <p:cNvPr id="14" name="Shape 12"/>
          <p:cNvSpPr/>
          <p:nvPr/>
        </p:nvSpPr>
        <p:spPr>
          <a:xfrm>
            <a:off x="11594592" y="841248"/>
            <a:ext cx="41148" cy="41148"/>
          </a:xfrm>
          <a:prstGeom prst="ellipse">
            <a:avLst/>
          </a:prstGeom>
          <a:solidFill>
            <a:srgbClr val="FC2779">
              <a:alpha val="45000"/>
            </a:srgbClr>
          </a:solidFill>
          <a:ln/>
        </p:spPr>
      </p:sp>
      <p:sp>
        <p:nvSpPr>
          <p:cNvPr id="15" name="Shape 13"/>
          <p:cNvSpPr/>
          <p:nvPr/>
        </p:nvSpPr>
        <p:spPr>
          <a:xfrm>
            <a:off x="11594592" y="960120"/>
            <a:ext cx="41148" cy="41148"/>
          </a:xfrm>
          <a:prstGeom prst="ellipse">
            <a:avLst/>
          </a:prstGeom>
          <a:solidFill>
            <a:srgbClr val="FC2779">
              <a:alpha val="45000"/>
            </a:srgbClr>
          </a:solidFill>
          <a:ln/>
        </p:spPr>
      </p:sp>
      <p:sp>
        <p:nvSpPr>
          <p:cNvPr id="16" name="Shape 14"/>
          <p:cNvSpPr/>
          <p:nvPr/>
        </p:nvSpPr>
        <p:spPr>
          <a:xfrm>
            <a:off x="11594592" y="1078992"/>
            <a:ext cx="41148" cy="41148"/>
          </a:xfrm>
          <a:prstGeom prst="ellipse">
            <a:avLst/>
          </a:prstGeom>
          <a:solidFill>
            <a:srgbClr val="FC2779">
              <a:alpha val="45000"/>
            </a:srgbClr>
          </a:solidFill>
          <a:ln/>
        </p:spPr>
      </p:sp>
      <p:sp>
        <p:nvSpPr>
          <p:cNvPr id="17" name="Shape 15"/>
          <p:cNvSpPr/>
          <p:nvPr/>
        </p:nvSpPr>
        <p:spPr>
          <a:xfrm>
            <a:off x="11594592" y="1197864"/>
            <a:ext cx="41148" cy="41148"/>
          </a:xfrm>
          <a:prstGeom prst="ellipse">
            <a:avLst/>
          </a:prstGeom>
          <a:solidFill>
            <a:srgbClr val="FC2779">
              <a:alpha val="45000"/>
            </a:srgbClr>
          </a:solidFill>
          <a:ln/>
        </p:spPr>
      </p:sp>
      <p:sp>
        <p:nvSpPr>
          <p:cNvPr id="18" name="Shape 16"/>
          <p:cNvSpPr/>
          <p:nvPr/>
        </p:nvSpPr>
        <p:spPr>
          <a:xfrm>
            <a:off x="11713464" y="365760"/>
            <a:ext cx="41148" cy="41148"/>
          </a:xfrm>
          <a:prstGeom prst="ellipse">
            <a:avLst/>
          </a:prstGeom>
          <a:solidFill>
            <a:srgbClr val="FC2779">
              <a:alpha val="45000"/>
            </a:srgbClr>
          </a:solidFill>
          <a:ln/>
        </p:spPr>
      </p:sp>
      <p:sp>
        <p:nvSpPr>
          <p:cNvPr id="19" name="Shape 17"/>
          <p:cNvSpPr/>
          <p:nvPr/>
        </p:nvSpPr>
        <p:spPr>
          <a:xfrm>
            <a:off x="11713464" y="484632"/>
            <a:ext cx="41148" cy="41148"/>
          </a:xfrm>
          <a:prstGeom prst="ellipse">
            <a:avLst/>
          </a:prstGeom>
          <a:solidFill>
            <a:srgbClr val="FC2779">
              <a:alpha val="45000"/>
            </a:srgbClr>
          </a:solidFill>
          <a:ln/>
        </p:spPr>
      </p:sp>
      <p:sp>
        <p:nvSpPr>
          <p:cNvPr id="20" name="Shape 18"/>
          <p:cNvSpPr/>
          <p:nvPr/>
        </p:nvSpPr>
        <p:spPr>
          <a:xfrm>
            <a:off x="11713464" y="603504"/>
            <a:ext cx="41148" cy="41148"/>
          </a:xfrm>
          <a:prstGeom prst="ellipse">
            <a:avLst/>
          </a:prstGeom>
          <a:solidFill>
            <a:srgbClr val="FC2779">
              <a:alpha val="45000"/>
            </a:srgbClr>
          </a:solidFill>
          <a:ln/>
        </p:spPr>
      </p:sp>
      <p:sp>
        <p:nvSpPr>
          <p:cNvPr id="21" name="Shape 19"/>
          <p:cNvSpPr/>
          <p:nvPr/>
        </p:nvSpPr>
        <p:spPr>
          <a:xfrm>
            <a:off x="11713464" y="722376"/>
            <a:ext cx="41148" cy="41148"/>
          </a:xfrm>
          <a:prstGeom prst="ellipse">
            <a:avLst/>
          </a:prstGeom>
          <a:solidFill>
            <a:srgbClr val="FC2779">
              <a:alpha val="45000"/>
            </a:srgbClr>
          </a:solidFill>
          <a:ln/>
        </p:spPr>
      </p:sp>
      <p:sp>
        <p:nvSpPr>
          <p:cNvPr id="22" name="Shape 20"/>
          <p:cNvSpPr/>
          <p:nvPr/>
        </p:nvSpPr>
        <p:spPr>
          <a:xfrm>
            <a:off x="11713464" y="841248"/>
            <a:ext cx="41148" cy="41148"/>
          </a:xfrm>
          <a:prstGeom prst="ellipse">
            <a:avLst/>
          </a:prstGeom>
          <a:solidFill>
            <a:srgbClr val="FC2779">
              <a:alpha val="45000"/>
            </a:srgbClr>
          </a:solidFill>
          <a:ln/>
        </p:spPr>
      </p:sp>
      <p:sp>
        <p:nvSpPr>
          <p:cNvPr id="23" name="Shape 21"/>
          <p:cNvSpPr/>
          <p:nvPr/>
        </p:nvSpPr>
        <p:spPr>
          <a:xfrm>
            <a:off x="11713464" y="960120"/>
            <a:ext cx="41148" cy="41148"/>
          </a:xfrm>
          <a:prstGeom prst="ellipse">
            <a:avLst/>
          </a:prstGeom>
          <a:solidFill>
            <a:srgbClr val="FC2779">
              <a:alpha val="45000"/>
            </a:srgbClr>
          </a:solidFill>
          <a:ln/>
        </p:spPr>
      </p:sp>
      <p:sp>
        <p:nvSpPr>
          <p:cNvPr id="24" name="Shape 22"/>
          <p:cNvSpPr/>
          <p:nvPr/>
        </p:nvSpPr>
        <p:spPr>
          <a:xfrm>
            <a:off x="11713464" y="1078992"/>
            <a:ext cx="41148" cy="41148"/>
          </a:xfrm>
          <a:prstGeom prst="ellipse">
            <a:avLst/>
          </a:prstGeom>
          <a:solidFill>
            <a:srgbClr val="FC2779">
              <a:alpha val="45000"/>
            </a:srgbClr>
          </a:solidFill>
          <a:ln/>
        </p:spPr>
      </p:sp>
      <p:sp>
        <p:nvSpPr>
          <p:cNvPr id="25" name="Shape 23"/>
          <p:cNvSpPr/>
          <p:nvPr/>
        </p:nvSpPr>
        <p:spPr>
          <a:xfrm>
            <a:off x="11713464" y="1197864"/>
            <a:ext cx="41148" cy="41148"/>
          </a:xfrm>
          <a:prstGeom prst="ellipse">
            <a:avLst/>
          </a:prstGeom>
          <a:solidFill>
            <a:srgbClr val="FC2779">
              <a:alpha val="45000"/>
            </a:srgbClr>
          </a:solidFill>
          <a:ln/>
        </p:spPr>
      </p:sp>
      <p:sp>
        <p:nvSpPr>
          <p:cNvPr id="26" name="Shape 24"/>
          <p:cNvSpPr/>
          <p:nvPr/>
        </p:nvSpPr>
        <p:spPr>
          <a:xfrm>
            <a:off x="11832336" y="365760"/>
            <a:ext cx="41148" cy="41148"/>
          </a:xfrm>
          <a:prstGeom prst="ellipse">
            <a:avLst/>
          </a:prstGeom>
          <a:solidFill>
            <a:srgbClr val="FC2779">
              <a:alpha val="45000"/>
            </a:srgbClr>
          </a:solidFill>
          <a:ln/>
        </p:spPr>
      </p:sp>
      <p:sp>
        <p:nvSpPr>
          <p:cNvPr id="27" name="Shape 25"/>
          <p:cNvSpPr/>
          <p:nvPr/>
        </p:nvSpPr>
        <p:spPr>
          <a:xfrm>
            <a:off x="11832336" y="484632"/>
            <a:ext cx="41148" cy="41148"/>
          </a:xfrm>
          <a:prstGeom prst="ellipse">
            <a:avLst/>
          </a:prstGeom>
          <a:solidFill>
            <a:srgbClr val="FC2779">
              <a:alpha val="45000"/>
            </a:srgbClr>
          </a:solidFill>
          <a:ln/>
        </p:spPr>
      </p:sp>
      <p:sp>
        <p:nvSpPr>
          <p:cNvPr id="28" name="Shape 26"/>
          <p:cNvSpPr/>
          <p:nvPr/>
        </p:nvSpPr>
        <p:spPr>
          <a:xfrm>
            <a:off x="11832336" y="603504"/>
            <a:ext cx="41148" cy="41148"/>
          </a:xfrm>
          <a:prstGeom prst="ellipse">
            <a:avLst/>
          </a:prstGeom>
          <a:solidFill>
            <a:srgbClr val="FC2779">
              <a:alpha val="45000"/>
            </a:srgbClr>
          </a:solidFill>
          <a:ln/>
        </p:spPr>
      </p:sp>
      <p:sp>
        <p:nvSpPr>
          <p:cNvPr id="29" name="Shape 27"/>
          <p:cNvSpPr/>
          <p:nvPr/>
        </p:nvSpPr>
        <p:spPr>
          <a:xfrm>
            <a:off x="11832336" y="722376"/>
            <a:ext cx="41148" cy="41148"/>
          </a:xfrm>
          <a:prstGeom prst="ellipse">
            <a:avLst/>
          </a:prstGeom>
          <a:solidFill>
            <a:srgbClr val="FC2779">
              <a:alpha val="45000"/>
            </a:srgbClr>
          </a:solidFill>
          <a:ln/>
        </p:spPr>
      </p:sp>
      <p:sp>
        <p:nvSpPr>
          <p:cNvPr id="30" name="Shape 28"/>
          <p:cNvSpPr/>
          <p:nvPr/>
        </p:nvSpPr>
        <p:spPr>
          <a:xfrm>
            <a:off x="11832336" y="841248"/>
            <a:ext cx="41148" cy="41148"/>
          </a:xfrm>
          <a:prstGeom prst="ellipse">
            <a:avLst/>
          </a:prstGeom>
          <a:solidFill>
            <a:srgbClr val="FC2779">
              <a:alpha val="45000"/>
            </a:srgbClr>
          </a:solidFill>
          <a:ln/>
        </p:spPr>
      </p:sp>
      <p:sp>
        <p:nvSpPr>
          <p:cNvPr id="31" name="Shape 29"/>
          <p:cNvSpPr/>
          <p:nvPr/>
        </p:nvSpPr>
        <p:spPr>
          <a:xfrm>
            <a:off x="11832336" y="960120"/>
            <a:ext cx="41148" cy="41148"/>
          </a:xfrm>
          <a:prstGeom prst="ellipse">
            <a:avLst/>
          </a:prstGeom>
          <a:solidFill>
            <a:srgbClr val="FC2779">
              <a:alpha val="45000"/>
            </a:srgbClr>
          </a:solidFill>
          <a:ln/>
        </p:spPr>
      </p:sp>
      <p:sp>
        <p:nvSpPr>
          <p:cNvPr id="32" name="Shape 30"/>
          <p:cNvSpPr/>
          <p:nvPr/>
        </p:nvSpPr>
        <p:spPr>
          <a:xfrm>
            <a:off x="11832336" y="1078992"/>
            <a:ext cx="41148" cy="41148"/>
          </a:xfrm>
          <a:prstGeom prst="ellipse">
            <a:avLst/>
          </a:prstGeom>
          <a:solidFill>
            <a:srgbClr val="FC2779">
              <a:alpha val="45000"/>
            </a:srgbClr>
          </a:solidFill>
          <a:ln/>
        </p:spPr>
      </p:sp>
      <p:sp>
        <p:nvSpPr>
          <p:cNvPr id="33" name="Shape 31"/>
          <p:cNvSpPr/>
          <p:nvPr/>
        </p:nvSpPr>
        <p:spPr>
          <a:xfrm>
            <a:off x="11832336" y="1197864"/>
            <a:ext cx="41148" cy="41148"/>
          </a:xfrm>
          <a:prstGeom prst="ellipse">
            <a:avLst/>
          </a:prstGeom>
          <a:solidFill>
            <a:srgbClr val="FC2779">
              <a:alpha val="45000"/>
            </a:srgbClr>
          </a:solidFill>
          <a:ln/>
        </p:spPr>
      </p:sp>
      <p:sp>
        <p:nvSpPr>
          <p:cNvPr id="34" name="Shape 32"/>
          <p:cNvSpPr/>
          <p:nvPr/>
        </p:nvSpPr>
        <p:spPr>
          <a:xfrm>
            <a:off x="11951208" y="365760"/>
            <a:ext cx="41148" cy="41148"/>
          </a:xfrm>
          <a:prstGeom prst="ellipse">
            <a:avLst/>
          </a:prstGeom>
          <a:solidFill>
            <a:srgbClr val="FC2779">
              <a:alpha val="45000"/>
            </a:srgbClr>
          </a:solidFill>
          <a:ln/>
        </p:spPr>
      </p:sp>
      <p:sp>
        <p:nvSpPr>
          <p:cNvPr id="35" name="Shape 33"/>
          <p:cNvSpPr/>
          <p:nvPr/>
        </p:nvSpPr>
        <p:spPr>
          <a:xfrm>
            <a:off x="11951208" y="484632"/>
            <a:ext cx="41148" cy="41148"/>
          </a:xfrm>
          <a:prstGeom prst="ellipse">
            <a:avLst/>
          </a:prstGeom>
          <a:solidFill>
            <a:srgbClr val="FC2779">
              <a:alpha val="45000"/>
            </a:srgbClr>
          </a:solidFill>
          <a:ln/>
        </p:spPr>
      </p:sp>
      <p:sp>
        <p:nvSpPr>
          <p:cNvPr id="36" name="Shape 34"/>
          <p:cNvSpPr/>
          <p:nvPr/>
        </p:nvSpPr>
        <p:spPr>
          <a:xfrm>
            <a:off x="11951208" y="603504"/>
            <a:ext cx="41148" cy="41148"/>
          </a:xfrm>
          <a:prstGeom prst="ellipse">
            <a:avLst/>
          </a:prstGeom>
          <a:solidFill>
            <a:srgbClr val="FC2779">
              <a:alpha val="45000"/>
            </a:srgbClr>
          </a:solidFill>
          <a:ln/>
        </p:spPr>
      </p:sp>
      <p:sp>
        <p:nvSpPr>
          <p:cNvPr id="37" name="Shape 35"/>
          <p:cNvSpPr/>
          <p:nvPr/>
        </p:nvSpPr>
        <p:spPr>
          <a:xfrm>
            <a:off x="11951208" y="722376"/>
            <a:ext cx="41148" cy="41148"/>
          </a:xfrm>
          <a:prstGeom prst="ellipse">
            <a:avLst/>
          </a:prstGeom>
          <a:solidFill>
            <a:srgbClr val="FC2779">
              <a:alpha val="45000"/>
            </a:srgbClr>
          </a:solidFill>
          <a:ln/>
        </p:spPr>
      </p:sp>
      <p:sp>
        <p:nvSpPr>
          <p:cNvPr id="38" name="Shape 36"/>
          <p:cNvSpPr/>
          <p:nvPr/>
        </p:nvSpPr>
        <p:spPr>
          <a:xfrm>
            <a:off x="11951208" y="841248"/>
            <a:ext cx="41148" cy="41148"/>
          </a:xfrm>
          <a:prstGeom prst="ellipse">
            <a:avLst/>
          </a:prstGeom>
          <a:solidFill>
            <a:srgbClr val="FC2779">
              <a:alpha val="45000"/>
            </a:srgbClr>
          </a:solidFill>
          <a:ln/>
        </p:spPr>
      </p:sp>
      <p:sp>
        <p:nvSpPr>
          <p:cNvPr id="39" name="Shape 37"/>
          <p:cNvSpPr/>
          <p:nvPr/>
        </p:nvSpPr>
        <p:spPr>
          <a:xfrm>
            <a:off x="11951208" y="960120"/>
            <a:ext cx="41148" cy="41148"/>
          </a:xfrm>
          <a:prstGeom prst="ellipse">
            <a:avLst/>
          </a:prstGeom>
          <a:solidFill>
            <a:srgbClr val="FC2779">
              <a:alpha val="45000"/>
            </a:srgbClr>
          </a:solidFill>
          <a:ln/>
        </p:spPr>
      </p:sp>
      <p:sp>
        <p:nvSpPr>
          <p:cNvPr id="40" name="Shape 38"/>
          <p:cNvSpPr/>
          <p:nvPr/>
        </p:nvSpPr>
        <p:spPr>
          <a:xfrm>
            <a:off x="11951208" y="1078992"/>
            <a:ext cx="41148" cy="41148"/>
          </a:xfrm>
          <a:prstGeom prst="ellipse">
            <a:avLst/>
          </a:prstGeom>
          <a:solidFill>
            <a:srgbClr val="FC2779">
              <a:alpha val="45000"/>
            </a:srgbClr>
          </a:solidFill>
          <a:ln/>
        </p:spPr>
      </p:sp>
      <p:sp>
        <p:nvSpPr>
          <p:cNvPr id="41" name="Shape 39"/>
          <p:cNvSpPr/>
          <p:nvPr/>
        </p:nvSpPr>
        <p:spPr>
          <a:xfrm>
            <a:off x="11951208" y="1197864"/>
            <a:ext cx="41148" cy="41148"/>
          </a:xfrm>
          <a:prstGeom prst="ellipse">
            <a:avLst/>
          </a:prstGeom>
          <a:solidFill>
            <a:srgbClr val="FC2779">
              <a:alpha val="45000"/>
            </a:srgbClr>
          </a:solidFill>
          <a:ln/>
        </p:spPr>
      </p:sp>
      <p:sp>
        <p:nvSpPr>
          <p:cNvPr id="42" name="Text 4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300" dirty="0">
                <a:solidFill>
                  <a:srgbClr val="FC2779"/>
                </a:solidFill>
                <a:latin typeface="Calibri" pitchFamily="34" charset="0"/>
                <a:ea typeface="Calibri" pitchFamily="34" charset="-122"/>
                <a:cs typeface="Calibri" pitchFamily="34" charset="-120"/>
              </a:rPr>
              <a:t>THE OPPORTUNITY</a:t>
            </a:r>
            <a:endParaRPr lang="en-US" sz="1300" dirty="0"/>
          </a:p>
        </p:txBody>
      </p:sp>
      <p:sp>
        <p:nvSpPr>
          <p:cNvPr id="43" name="Text 41"/>
          <p:cNvSpPr/>
          <p:nvPr/>
        </p:nvSpPr>
        <p:spPr>
          <a:xfrm>
            <a:off x="548640" y="868680"/>
            <a:ext cx="6583680" cy="1463040"/>
          </a:xfrm>
          <a:prstGeom prst="rect">
            <a:avLst/>
          </a:prstGeom>
          <a:noFill/>
          <a:ln/>
        </p:spPr>
        <p:txBody>
          <a:bodyPr wrap="square" lIns="0" tIns="0" rIns="0" bIns="0" rtlCol="0" anchor="ctr"/>
          <a:lstStyle/>
          <a:p>
            <a:pPr marL="0" indent="0">
              <a:lnSpc>
                <a:spcPct val="110000"/>
              </a:lnSpc>
              <a:buNone/>
            </a:pPr>
            <a:r>
              <a:rPr lang="en-US" sz="2900" b="1" dirty="0">
                <a:solidFill>
                  <a:srgbClr val="1A1A1A"/>
                </a:solidFill>
                <a:latin typeface="Cambria" pitchFamily="34" charset="0"/>
                <a:ea typeface="Cambria" pitchFamily="34" charset="-122"/>
                <a:cs typeface="Cambria" pitchFamily="34" charset="-120"/>
              </a:rPr>
              <a:t>Nykaa already owns trust.</a:t>
            </a:r>
            <a:endParaRPr lang="en-US" sz="2900" dirty="0"/>
          </a:p>
          <a:p>
            <a:pPr marL="0" indent="0">
              <a:lnSpc>
                <a:spcPct val="110000"/>
              </a:lnSpc>
              <a:buNone/>
            </a:pPr>
            <a:r>
              <a:rPr lang="en-US" sz="2900" b="1" dirty="0">
                <a:solidFill>
                  <a:srgbClr val="1A1A1A"/>
                </a:solidFill>
                <a:latin typeface="Cambria" pitchFamily="34" charset="0"/>
                <a:ea typeface="Cambria" pitchFamily="34" charset="-122"/>
                <a:cs typeface="Cambria" pitchFamily="34" charset="-120"/>
              </a:rPr>
              <a:t>It hasn't yet made trust the story.</a:t>
            </a:r>
            <a:endParaRPr lang="en-US" sz="2900" dirty="0"/>
          </a:p>
        </p:txBody>
      </p:sp>
      <p:sp>
        <p:nvSpPr>
          <p:cNvPr id="44" name="Text 42"/>
          <p:cNvSpPr/>
          <p:nvPr/>
        </p:nvSpPr>
        <p:spPr>
          <a:xfrm>
            <a:off x="548640" y="2468880"/>
            <a:ext cx="6309360" cy="1463040"/>
          </a:xfrm>
          <a:prstGeom prst="rect">
            <a:avLst/>
          </a:prstGeom>
          <a:noFill/>
          <a:ln/>
        </p:spPr>
        <p:txBody>
          <a:bodyPr wrap="square" lIns="0" tIns="0" rIns="0" bIns="0" rtlCol="0" anchor="ctr"/>
          <a:lstStyle/>
          <a:p>
            <a:pPr marL="0" indent="0">
              <a:lnSpc>
                <a:spcPct val="130000"/>
              </a:lnSpc>
              <a:buNone/>
            </a:pPr>
            <a:r>
              <a:rPr lang="en-US" sz="1400" dirty="0">
                <a:solidFill>
                  <a:srgbClr val="3A3A3A"/>
                </a:solidFill>
                <a:latin typeface="Calibri" pitchFamily="34" charset="0"/>
                <a:ea typeface="Calibri" pitchFamily="34" charset="-122"/>
                <a:cs typeface="Calibri" pitchFamily="34" charset="-120"/>
              </a:rPr>
              <a:t>Nykaa's content today sits in reassurance — tutorials, reviews, expert guidance that reduce anxiety before a purchase. That's a real strength. But it's a safe one: it informs decisions more than it builds identity or emotional meaning.</a:t>
            </a:r>
            <a:endParaRPr lang="en-US" sz="1400" dirty="0"/>
          </a:p>
        </p:txBody>
      </p:sp>
      <p:sp>
        <p:nvSpPr>
          <p:cNvPr id="45" name="Shape 43"/>
          <p:cNvSpPr/>
          <p:nvPr/>
        </p:nvSpPr>
        <p:spPr>
          <a:xfrm>
            <a:off x="548640" y="4114800"/>
            <a:ext cx="502920" cy="502920"/>
          </a:xfrm>
          <a:prstGeom prst="ellipse">
            <a:avLst/>
          </a:prstGeom>
          <a:solidFill>
            <a:srgbClr val="FCE4EC"/>
          </a:solidFill>
          <a:ln/>
        </p:spPr>
      </p:sp>
      <p:pic>
        <p:nvPicPr>
          <p:cNvPr id="46" name="Image 0" descr="/home/claude/icons/users_pink.png"/>
          <p:cNvPicPr>
            <a:picLocks noChangeAspect="1"/>
          </p:cNvPicPr>
          <p:nvPr/>
        </p:nvPicPr>
        <p:blipFill>
          <a:blip r:embed="rId3"/>
          <a:stretch>
            <a:fillRect/>
          </a:stretch>
        </p:blipFill>
        <p:spPr>
          <a:xfrm>
            <a:off x="619049" y="4185209"/>
            <a:ext cx="362102" cy="362102"/>
          </a:xfrm>
          <a:prstGeom prst="rect">
            <a:avLst/>
          </a:prstGeom>
        </p:spPr>
      </p:pic>
      <p:sp>
        <p:nvSpPr>
          <p:cNvPr id="47" name="Text 44"/>
          <p:cNvSpPr/>
          <p:nvPr/>
        </p:nvSpPr>
        <p:spPr>
          <a:xfrm>
            <a:off x="1234440" y="4096512"/>
            <a:ext cx="5577840" cy="320040"/>
          </a:xfrm>
          <a:prstGeom prst="rect">
            <a:avLst/>
          </a:prstGeom>
          <a:noFill/>
          <a:ln/>
        </p:spPr>
        <p:txBody>
          <a:bodyPr wrap="square" lIns="0" tIns="0" rIns="0" bIns="0" rtlCol="0" anchor="ctr"/>
          <a:lstStyle/>
          <a:p>
            <a:pPr marL="0" indent="0">
              <a:buNone/>
            </a:pPr>
            <a:r>
              <a:rPr lang="en-US" sz="1400" b="1" dirty="0">
                <a:solidFill>
                  <a:srgbClr val="1A1A1A"/>
                </a:solidFill>
                <a:latin typeface="Cambria" pitchFamily="34" charset="0"/>
                <a:ea typeface="Cambria" pitchFamily="34" charset="-122"/>
                <a:cs typeface="Cambria" pitchFamily="34" charset="-120"/>
              </a:rPr>
              <a:t>Nykaa Network</a:t>
            </a:r>
            <a:endParaRPr lang="en-US" sz="1400" dirty="0"/>
          </a:p>
        </p:txBody>
      </p:sp>
      <p:sp>
        <p:nvSpPr>
          <p:cNvPr id="48" name="Text 45"/>
          <p:cNvSpPr/>
          <p:nvPr/>
        </p:nvSpPr>
        <p:spPr>
          <a:xfrm>
            <a:off x="1234440" y="4389120"/>
            <a:ext cx="5486400" cy="365760"/>
          </a:xfrm>
          <a:prstGeom prst="rect">
            <a:avLst/>
          </a:prstGeom>
          <a:noFill/>
          <a:ln/>
        </p:spPr>
        <p:txBody>
          <a:bodyPr wrap="square" lIns="0" tIns="0" rIns="0" bIns="0" rtlCol="0" anchor="ctr"/>
          <a:lstStyle/>
          <a:p>
            <a:pPr marL="0" indent="0">
              <a:buNone/>
            </a:pPr>
            <a:r>
              <a:rPr lang="en-US" sz="1150" dirty="0">
                <a:solidFill>
                  <a:srgbClr val="8C7C82"/>
                </a:solidFill>
                <a:latin typeface="Calibri" pitchFamily="34" charset="0"/>
                <a:ea typeface="Calibri" pitchFamily="34" charset="-122"/>
                <a:cs typeface="Calibri" pitchFamily="34" charset="-120"/>
              </a:rPr>
              <a:t>An existing peer-to-peer trust community — the infrastructure this platform builds on.</a:t>
            </a:r>
            <a:endParaRPr lang="en-US" sz="1150" dirty="0"/>
          </a:p>
        </p:txBody>
      </p:sp>
      <p:sp>
        <p:nvSpPr>
          <p:cNvPr id="49" name="Shape 46"/>
          <p:cNvSpPr/>
          <p:nvPr/>
        </p:nvSpPr>
        <p:spPr>
          <a:xfrm>
            <a:off x="548640" y="4873752"/>
            <a:ext cx="502920" cy="502920"/>
          </a:xfrm>
          <a:prstGeom prst="ellipse">
            <a:avLst/>
          </a:prstGeom>
          <a:solidFill>
            <a:srgbClr val="FCE4EC"/>
          </a:solidFill>
          <a:ln/>
        </p:spPr>
      </p:sp>
      <p:pic>
        <p:nvPicPr>
          <p:cNvPr id="50" name="Image 1" descr="/home/claude/icons/message_pink.png"/>
          <p:cNvPicPr>
            <a:picLocks noChangeAspect="1"/>
          </p:cNvPicPr>
          <p:nvPr/>
        </p:nvPicPr>
        <p:blipFill>
          <a:blip r:embed="rId4"/>
          <a:stretch>
            <a:fillRect/>
          </a:stretch>
        </p:blipFill>
        <p:spPr>
          <a:xfrm>
            <a:off x="619049" y="4944161"/>
            <a:ext cx="362102" cy="362102"/>
          </a:xfrm>
          <a:prstGeom prst="rect">
            <a:avLst/>
          </a:prstGeom>
        </p:spPr>
      </p:pic>
      <p:sp>
        <p:nvSpPr>
          <p:cNvPr id="51" name="Text 47"/>
          <p:cNvSpPr/>
          <p:nvPr/>
        </p:nvSpPr>
        <p:spPr>
          <a:xfrm>
            <a:off x="1234440" y="4855464"/>
            <a:ext cx="5577840" cy="320040"/>
          </a:xfrm>
          <a:prstGeom prst="rect">
            <a:avLst/>
          </a:prstGeom>
          <a:noFill/>
          <a:ln/>
        </p:spPr>
        <p:txBody>
          <a:bodyPr wrap="square" lIns="0" tIns="0" rIns="0" bIns="0" rtlCol="0" anchor="ctr"/>
          <a:lstStyle/>
          <a:p>
            <a:pPr marL="0" indent="0">
              <a:buNone/>
            </a:pPr>
            <a:r>
              <a:rPr lang="en-US" sz="1400" b="1" dirty="0">
                <a:solidFill>
                  <a:srgbClr val="1A1A1A"/>
                </a:solidFill>
                <a:latin typeface="Cambria" pitchFamily="34" charset="0"/>
                <a:ea typeface="Cambria" pitchFamily="34" charset="-122"/>
                <a:cs typeface="Cambria" pitchFamily="34" charset="-120"/>
              </a:rPr>
              <a:t>Micro-Creator Ecosystem</a:t>
            </a:r>
            <a:endParaRPr lang="en-US" sz="1400" dirty="0"/>
          </a:p>
        </p:txBody>
      </p:sp>
      <p:sp>
        <p:nvSpPr>
          <p:cNvPr id="52" name="Text 48"/>
          <p:cNvSpPr/>
          <p:nvPr/>
        </p:nvSpPr>
        <p:spPr>
          <a:xfrm>
            <a:off x="1234440" y="5148072"/>
            <a:ext cx="5486400" cy="365760"/>
          </a:xfrm>
          <a:prstGeom prst="rect">
            <a:avLst/>
          </a:prstGeom>
          <a:noFill/>
          <a:ln/>
        </p:spPr>
        <p:txBody>
          <a:bodyPr wrap="square" lIns="0" tIns="0" rIns="0" bIns="0" rtlCol="0" anchor="ctr"/>
          <a:lstStyle/>
          <a:p>
            <a:pPr marL="0" indent="0">
              <a:buNone/>
            </a:pPr>
            <a:r>
              <a:rPr lang="en-US" sz="1150" dirty="0">
                <a:solidFill>
                  <a:srgbClr val="8C7C82"/>
                </a:solidFill>
                <a:latin typeface="Calibri" pitchFamily="34" charset="0"/>
                <a:ea typeface="Calibri" pitchFamily="34" charset="-122"/>
                <a:cs typeface="Calibri" pitchFamily="34" charset="-120"/>
              </a:rPr>
              <a:t>Thousands of relatable creators already recommend, not perform.</a:t>
            </a:r>
            <a:endParaRPr lang="en-US" sz="1150" dirty="0"/>
          </a:p>
        </p:txBody>
      </p:sp>
      <p:sp>
        <p:nvSpPr>
          <p:cNvPr id="53" name="Shape 49"/>
          <p:cNvSpPr/>
          <p:nvPr/>
        </p:nvSpPr>
        <p:spPr>
          <a:xfrm>
            <a:off x="548640" y="5632704"/>
            <a:ext cx="502920" cy="502920"/>
          </a:xfrm>
          <a:prstGeom prst="ellipse">
            <a:avLst/>
          </a:prstGeom>
          <a:solidFill>
            <a:srgbClr val="FCE4EC"/>
          </a:solidFill>
          <a:ln/>
        </p:spPr>
      </p:sp>
      <p:pic>
        <p:nvPicPr>
          <p:cNvPr id="54" name="Image 2" descr="/home/claude/icons/perfume_pink.png"/>
          <p:cNvPicPr>
            <a:picLocks noChangeAspect="1"/>
          </p:cNvPicPr>
          <p:nvPr/>
        </p:nvPicPr>
        <p:blipFill>
          <a:blip r:embed="rId5"/>
          <a:stretch>
            <a:fillRect/>
          </a:stretch>
        </p:blipFill>
        <p:spPr>
          <a:xfrm>
            <a:off x="619049" y="5703113"/>
            <a:ext cx="362102" cy="362102"/>
          </a:xfrm>
          <a:prstGeom prst="rect">
            <a:avLst/>
          </a:prstGeom>
        </p:spPr>
      </p:pic>
      <p:sp>
        <p:nvSpPr>
          <p:cNvPr id="55" name="Text 50"/>
          <p:cNvSpPr/>
          <p:nvPr/>
        </p:nvSpPr>
        <p:spPr>
          <a:xfrm>
            <a:off x="1234440" y="5614416"/>
            <a:ext cx="5577840" cy="320040"/>
          </a:xfrm>
          <a:prstGeom prst="rect">
            <a:avLst/>
          </a:prstGeom>
          <a:noFill/>
          <a:ln/>
        </p:spPr>
        <p:txBody>
          <a:bodyPr wrap="square" lIns="0" tIns="0" rIns="0" bIns="0" rtlCol="0" anchor="ctr"/>
          <a:lstStyle/>
          <a:p>
            <a:pPr marL="0" indent="0">
              <a:buNone/>
            </a:pPr>
            <a:r>
              <a:rPr lang="en-US" sz="1400" b="1" dirty="0">
                <a:solidFill>
                  <a:srgbClr val="1A1A1A"/>
                </a:solidFill>
                <a:latin typeface="Cambria" pitchFamily="34" charset="0"/>
                <a:ea typeface="Cambria" pitchFamily="34" charset="-122"/>
                <a:cs typeface="Cambria" pitchFamily="34" charset="-120"/>
              </a:rPr>
              <a:t>House of Nykaa</a:t>
            </a:r>
            <a:endParaRPr lang="en-US" sz="1400" dirty="0"/>
          </a:p>
        </p:txBody>
      </p:sp>
      <p:sp>
        <p:nvSpPr>
          <p:cNvPr id="56" name="Text 51"/>
          <p:cNvSpPr/>
          <p:nvPr/>
        </p:nvSpPr>
        <p:spPr>
          <a:xfrm>
            <a:off x="1234440" y="5907024"/>
            <a:ext cx="5486400" cy="365760"/>
          </a:xfrm>
          <a:prstGeom prst="rect">
            <a:avLst/>
          </a:prstGeom>
          <a:noFill/>
          <a:ln/>
        </p:spPr>
        <p:txBody>
          <a:bodyPr wrap="square" lIns="0" tIns="0" rIns="0" bIns="0" rtlCol="0" anchor="ctr"/>
          <a:lstStyle/>
          <a:p>
            <a:pPr marL="0" indent="0">
              <a:buNone/>
            </a:pPr>
            <a:r>
              <a:rPr lang="en-US" sz="1150" dirty="0">
                <a:solidFill>
                  <a:srgbClr val="8C7C82"/>
                </a:solidFill>
                <a:latin typeface="Calibri" pitchFamily="34" charset="0"/>
                <a:ea typeface="Calibri" pitchFamily="34" charset="-122"/>
                <a:cs typeface="Calibri" pitchFamily="34" charset="-120"/>
              </a:rPr>
              <a:t>A premium owned-brand portfolio that gives every story a natural product home.</a:t>
            </a:r>
            <a:endParaRPr lang="en-US" sz="1150" dirty="0"/>
          </a:p>
        </p:txBody>
      </p:sp>
      <p:sp>
        <p:nvSpPr>
          <p:cNvPr id="57" name="Shape 52"/>
          <p:cNvSpPr/>
          <p:nvPr/>
        </p:nvSpPr>
        <p:spPr>
          <a:xfrm>
            <a:off x="7360920" y="868680"/>
            <a:ext cx="4297680" cy="5394960"/>
          </a:xfrm>
          <a:prstGeom prst="roundRect">
            <a:avLst>
              <a:gd name="adj" fmla="val 2553"/>
            </a:avLst>
          </a:prstGeom>
          <a:solidFill>
            <a:srgbClr val="FCE4EC"/>
          </a:solidFill>
          <a:ln/>
        </p:spPr>
      </p:sp>
      <p:sp>
        <p:nvSpPr>
          <p:cNvPr id="58" name="Text 53"/>
          <p:cNvSpPr/>
          <p:nvPr/>
        </p:nvSpPr>
        <p:spPr>
          <a:xfrm>
            <a:off x="7680960" y="1188720"/>
            <a:ext cx="3657600" cy="320040"/>
          </a:xfrm>
          <a:prstGeom prst="rect">
            <a:avLst/>
          </a:prstGeom>
          <a:noFill/>
          <a:ln/>
        </p:spPr>
        <p:txBody>
          <a:bodyPr wrap="square" lIns="0" tIns="0" rIns="0" bIns="0" rtlCol="0" anchor="ctr"/>
          <a:lstStyle/>
          <a:p>
            <a:pPr marL="0" indent="0">
              <a:buNone/>
            </a:pPr>
            <a:r>
              <a:rPr lang="en-US" sz="1100" b="1" kern="0" spc="200" dirty="0">
                <a:solidFill>
                  <a:srgbClr val="FC2779"/>
                </a:solidFill>
                <a:latin typeface="Calibri" pitchFamily="34" charset="0"/>
                <a:ea typeface="Calibri" pitchFamily="34" charset="-122"/>
                <a:cs typeface="Calibri" pitchFamily="34" charset="-120"/>
              </a:rPr>
              <a:t>SELECTED TERRITORY</a:t>
            </a:r>
            <a:endParaRPr lang="en-US" sz="1100" dirty="0"/>
          </a:p>
        </p:txBody>
      </p:sp>
      <p:sp>
        <p:nvSpPr>
          <p:cNvPr id="59" name="Text 54"/>
          <p:cNvSpPr/>
          <p:nvPr/>
        </p:nvSpPr>
        <p:spPr>
          <a:xfrm>
            <a:off x="7680960" y="1554480"/>
            <a:ext cx="3657600" cy="1188720"/>
          </a:xfrm>
          <a:prstGeom prst="rect">
            <a:avLst/>
          </a:prstGeom>
          <a:noFill/>
          <a:ln/>
        </p:spPr>
        <p:txBody>
          <a:bodyPr wrap="square" lIns="0" tIns="0" rIns="0" bIns="0" rtlCol="0" anchor="ctr"/>
          <a:lstStyle/>
          <a:p>
            <a:pPr marL="0" indent="0">
              <a:lnSpc>
                <a:spcPct val="105000"/>
              </a:lnSpc>
              <a:buNone/>
            </a:pPr>
            <a:r>
              <a:rPr lang="en-US" sz="2700" b="1" dirty="0">
                <a:solidFill>
                  <a:srgbClr val="1A1A1A"/>
                </a:solidFill>
                <a:latin typeface="Cambria" pitchFamily="34" charset="0"/>
                <a:ea typeface="Cambria" pitchFamily="34" charset="-122"/>
                <a:cs typeface="Cambria" pitchFamily="34" charset="-120"/>
              </a:rPr>
              <a:t>The Confidence</a:t>
            </a:r>
            <a:endParaRPr lang="en-US" sz="2700" dirty="0"/>
          </a:p>
          <a:p>
            <a:pPr marL="0" indent="0">
              <a:lnSpc>
                <a:spcPct val="105000"/>
              </a:lnSpc>
              <a:buNone/>
            </a:pPr>
            <a:r>
              <a:rPr lang="en-US" sz="2700" b="1" dirty="0">
                <a:solidFill>
                  <a:srgbClr val="1A1A1A"/>
                </a:solidFill>
                <a:latin typeface="Cambria" pitchFamily="34" charset="0"/>
                <a:ea typeface="Cambria" pitchFamily="34" charset="-122"/>
                <a:cs typeface="Cambria" pitchFamily="34" charset="-120"/>
              </a:rPr>
              <a:t>Handoff</a:t>
            </a:r>
            <a:endParaRPr lang="en-US" sz="2700" dirty="0"/>
          </a:p>
        </p:txBody>
      </p:sp>
      <p:sp>
        <p:nvSpPr>
          <p:cNvPr id="60" name="Text 55"/>
          <p:cNvSpPr/>
          <p:nvPr/>
        </p:nvSpPr>
        <p:spPr>
          <a:xfrm>
            <a:off x="7680960" y="2788920"/>
            <a:ext cx="3657600" cy="1371600"/>
          </a:xfrm>
          <a:prstGeom prst="rect">
            <a:avLst/>
          </a:prstGeom>
          <a:noFill/>
          <a:ln/>
        </p:spPr>
        <p:txBody>
          <a:bodyPr wrap="square" lIns="0" tIns="0" rIns="0" bIns="0" rtlCol="0" anchor="ctr"/>
          <a:lstStyle/>
          <a:p>
            <a:pPr marL="0" indent="0">
              <a:lnSpc>
                <a:spcPct val="130000"/>
              </a:lnSpc>
              <a:buNone/>
            </a:pPr>
            <a:r>
              <a:rPr lang="en-US" sz="1250" dirty="0">
                <a:solidFill>
                  <a:srgbClr val="3A3A3A"/>
                </a:solidFill>
                <a:latin typeface="Calibri" pitchFamily="34" charset="0"/>
                <a:ea typeface="Calibri" pitchFamily="34" charset="-122"/>
                <a:cs typeface="Calibri" pitchFamily="34" charset="-120"/>
              </a:rPr>
              <a:t>Chosen from 15 candidate emotional territories — scored highest on brand fit and execution feasibility because it activates something Nykaa already owns, rather than asking the brand to adopt a new emotional register.</a:t>
            </a:r>
            <a:endParaRPr lang="en-US" sz="1250" dirty="0"/>
          </a:p>
        </p:txBody>
      </p:sp>
      <p:sp>
        <p:nvSpPr>
          <p:cNvPr id="61" name="Shape 56"/>
          <p:cNvSpPr/>
          <p:nvPr/>
        </p:nvSpPr>
        <p:spPr>
          <a:xfrm>
            <a:off x="7680960" y="4251960"/>
            <a:ext cx="3566160" cy="0"/>
          </a:xfrm>
          <a:prstGeom prst="line">
            <a:avLst/>
          </a:prstGeom>
          <a:noFill/>
          <a:ln w="12700">
            <a:solidFill>
              <a:srgbClr val="FC2779"/>
            </a:solidFill>
            <a:prstDash val="solid"/>
          </a:ln>
        </p:spPr>
      </p:sp>
      <p:sp>
        <p:nvSpPr>
          <p:cNvPr id="62" name="Text 57"/>
          <p:cNvSpPr/>
          <p:nvPr/>
        </p:nvSpPr>
        <p:spPr>
          <a:xfrm>
            <a:off x="7680960" y="4434840"/>
            <a:ext cx="3657600" cy="27432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Runner-up territories:</a:t>
            </a:r>
            <a:endParaRPr lang="en-US" sz="1100" dirty="0"/>
          </a:p>
        </p:txBody>
      </p:sp>
      <p:sp>
        <p:nvSpPr>
          <p:cNvPr id="63" name="Text 58"/>
          <p:cNvSpPr/>
          <p:nvPr/>
        </p:nvSpPr>
        <p:spPr>
          <a:xfrm>
            <a:off x="7680960" y="4709160"/>
            <a:ext cx="3657600" cy="457200"/>
          </a:xfrm>
          <a:prstGeom prst="rect">
            <a:avLst/>
          </a:prstGeom>
          <a:noFill/>
          <a:ln/>
        </p:spPr>
        <p:txBody>
          <a:bodyPr wrap="square" lIns="0" tIns="0" rIns="0" bIns="0" rtlCol="0" anchor="ctr"/>
          <a:lstStyle/>
          <a:p>
            <a:pPr marL="0" indent="0">
              <a:buNone/>
            </a:pPr>
            <a:r>
              <a:rPr lang="en-US" sz="1150" i="1" dirty="0">
                <a:solidFill>
                  <a:srgbClr val="8C7C82"/>
                </a:solidFill>
                <a:latin typeface="Calibri" pitchFamily="34" charset="0"/>
                <a:ea typeface="Calibri" pitchFamily="34" charset="-122"/>
                <a:cs typeface="Calibri" pitchFamily="34" charset="-120"/>
              </a:rPr>
              <a:t>Mirror Confidence   ·   First-Time Rituals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10241280" y="5120640"/>
            <a:ext cx="3657600" cy="3657600"/>
          </a:xfrm>
          <a:prstGeom prst="ellipse">
            <a:avLst/>
          </a:prstGeom>
          <a:solidFill>
            <a:srgbClr val="B01458"/>
          </a:solidFill>
          <a:ln/>
        </p:spPr>
      </p:sp>
      <p:sp>
        <p:nvSpPr>
          <p:cNvPr id="3" name="Text 1"/>
          <p:cNvSpPr/>
          <p:nvPr/>
        </p:nvSpPr>
        <p:spPr>
          <a:xfrm>
            <a:off x="548640" y="502920"/>
            <a:ext cx="7315200" cy="365760"/>
          </a:xfrm>
          <a:prstGeom prst="rect">
            <a:avLst/>
          </a:prstGeom>
          <a:noFill/>
          <a:ln/>
        </p:spPr>
        <p:txBody>
          <a:bodyPr wrap="square" lIns="0" tIns="0" rIns="0" bIns="0" rtlCol="0" anchor="ctr"/>
          <a:lstStyle/>
          <a:p>
            <a:pPr marL="0" indent="0">
              <a:buNone/>
            </a:pPr>
            <a:r>
              <a:rPr lang="en-US" sz="1300" b="1" kern="0" spc="300" dirty="0">
                <a:solidFill>
                  <a:srgbClr val="FC2779"/>
                </a:solidFill>
                <a:latin typeface="Calibri" pitchFamily="34" charset="0"/>
                <a:ea typeface="Calibri" pitchFamily="34" charset="-122"/>
                <a:cs typeface="Calibri" pitchFamily="34" charset="-120"/>
              </a:rPr>
              <a:t>CONSUMER INSIGHT</a:t>
            </a:r>
            <a:endParaRPr lang="en-US" sz="1300" dirty="0"/>
          </a:p>
        </p:txBody>
      </p:sp>
      <p:sp>
        <p:nvSpPr>
          <p:cNvPr id="4" name="Text 2"/>
          <p:cNvSpPr/>
          <p:nvPr/>
        </p:nvSpPr>
        <p:spPr>
          <a:xfrm>
            <a:off x="548640" y="960120"/>
            <a:ext cx="11064240" cy="1463040"/>
          </a:xfrm>
          <a:prstGeom prst="rect">
            <a:avLst/>
          </a:prstGeom>
          <a:noFill/>
          <a:ln/>
        </p:spPr>
        <p:txBody>
          <a:bodyPr wrap="square" lIns="0" tIns="0" rIns="0" bIns="0" rtlCol="0" anchor="ctr"/>
          <a:lstStyle/>
          <a:p>
            <a:pPr marL="0" indent="0">
              <a:lnSpc>
                <a:spcPct val="120000"/>
              </a:lnSpc>
              <a:buNone/>
            </a:pPr>
            <a:r>
              <a:rPr lang="en-US" sz="2900" b="1" i="1" dirty="0">
                <a:solidFill>
                  <a:srgbClr val="FFFFFF"/>
                </a:solidFill>
                <a:latin typeface="Cambria" pitchFamily="34" charset="0"/>
                <a:ea typeface="Cambria" pitchFamily="34" charset="-122"/>
                <a:cs typeface="Cambria" pitchFamily="34" charset="-120"/>
              </a:rPr>
              <a:t>“Every confident woman got her first lesson from someone</a:t>
            </a:r>
            <a:endParaRPr lang="en-US" sz="2900" dirty="0"/>
          </a:p>
          <a:p>
            <a:pPr marL="0" indent="0">
              <a:lnSpc>
                <a:spcPct val="120000"/>
              </a:lnSpc>
              <a:buNone/>
            </a:pPr>
            <a:r>
              <a:rPr lang="en-US" sz="2900" b="1" i="1" dirty="0">
                <a:solidFill>
                  <a:srgbClr val="FFFFFF"/>
                </a:solidFill>
                <a:latin typeface="Cambria" pitchFamily="34" charset="0"/>
                <a:ea typeface="Cambria" pitchFamily="34" charset="-122"/>
                <a:cs typeface="Cambria" pitchFamily="34" charset="-120"/>
              </a:rPr>
              <a:t>who cared enough to show her.”</a:t>
            </a:r>
            <a:endParaRPr lang="en-US" sz="2900" dirty="0"/>
          </a:p>
        </p:txBody>
      </p:sp>
      <p:sp>
        <p:nvSpPr>
          <p:cNvPr id="5" name="Shape 3"/>
          <p:cNvSpPr/>
          <p:nvPr/>
        </p:nvSpPr>
        <p:spPr>
          <a:xfrm>
            <a:off x="548640" y="2331720"/>
            <a:ext cx="457200" cy="457200"/>
          </a:xfrm>
          <a:prstGeom prst="ellipse">
            <a:avLst/>
          </a:prstGeom>
          <a:solidFill>
            <a:srgbClr val="FC2779"/>
          </a:solidFill>
          <a:ln/>
        </p:spPr>
      </p:sp>
      <p:pic>
        <p:nvPicPr>
          <p:cNvPr id="6" name="Image 0" descr="/home/claude/icons/mirror_black.png"/>
          <p:cNvPicPr>
            <a:picLocks noChangeAspect="1"/>
          </p:cNvPicPr>
          <p:nvPr/>
        </p:nvPicPr>
        <p:blipFill>
          <a:blip r:embed="rId3"/>
          <a:stretch>
            <a:fillRect/>
          </a:stretch>
        </p:blipFill>
        <p:spPr>
          <a:xfrm>
            <a:off x="612648" y="2395728"/>
            <a:ext cx="329184" cy="329184"/>
          </a:xfrm>
          <a:prstGeom prst="rect">
            <a:avLst/>
          </a:prstGeom>
        </p:spPr>
      </p:pic>
      <p:sp>
        <p:nvSpPr>
          <p:cNvPr id="7" name="Text 4"/>
          <p:cNvSpPr/>
          <p:nvPr/>
        </p:nvSpPr>
        <p:spPr>
          <a:xfrm>
            <a:off x="1188720" y="2377440"/>
            <a:ext cx="8229600" cy="457200"/>
          </a:xfrm>
          <a:prstGeom prst="rect">
            <a:avLst/>
          </a:prstGeom>
          <a:noFill/>
          <a:ln/>
        </p:spPr>
        <p:txBody>
          <a:bodyPr wrap="square" lIns="0" tIns="0" rIns="0" bIns="0" rtlCol="0" anchor="ctr"/>
          <a:lstStyle/>
          <a:p>
            <a:pPr marL="0" indent="0">
              <a:buNone/>
            </a:pPr>
            <a:r>
              <a:rPr lang="en-US" sz="1800" dirty="0">
                <a:solidFill>
                  <a:srgbClr val="FC2779"/>
                </a:solidFill>
                <a:latin typeface="Cambria" pitchFamily="34" charset="0"/>
                <a:ea typeface="Cambria" pitchFamily="34" charset="-122"/>
                <a:cs typeface="Cambria" pitchFamily="34" charset="-120"/>
              </a:rPr>
              <a:t>Nykaa is where that handoff never stops.</a:t>
            </a:r>
            <a:endParaRPr lang="en-US" sz="1800" dirty="0"/>
          </a:p>
        </p:txBody>
      </p:sp>
      <p:sp>
        <p:nvSpPr>
          <p:cNvPr id="8" name="Shape 5"/>
          <p:cNvSpPr/>
          <p:nvPr/>
        </p:nvSpPr>
        <p:spPr>
          <a:xfrm>
            <a:off x="548640" y="3246120"/>
            <a:ext cx="3611880" cy="2880360"/>
          </a:xfrm>
          <a:prstGeom prst="roundRect">
            <a:avLst>
              <a:gd name="adj" fmla="val 3175"/>
            </a:avLst>
          </a:prstGeom>
          <a:solidFill>
            <a:srgbClr val="2A2A2A"/>
          </a:solidFill>
          <a:ln/>
        </p:spPr>
      </p:sp>
      <p:sp>
        <p:nvSpPr>
          <p:cNvPr id="9" name="Shape 6"/>
          <p:cNvSpPr/>
          <p:nvPr/>
        </p:nvSpPr>
        <p:spPr>
          <a:xfrm>
            <a:off x="868680" y="3566160"/>
            <a:ext cx="502920" cy="502920"/>
          </a:xfrm>
          <a:prstGeom prst="ellipse">
            <a:avLst/>
          </a:prstGeom>
          <a:solidFill>
            <a:srgbClr val="FC2779"/>
          </a:solidFill>
          <a:ln/>
        </p:spPr>
      </p:sp>
      <p:pic>
        <p:nvPicPr>
          <p:cNvPr id="10" name="Image 1" descr="/home/claude/icons/message_white.png"/>
          <p:cNvPicPr>
            <a:picLocks noChangeAspect="1"/>
          </p:cNvPicPr>
          <p:nvPr/>
        </p:nvPicPr>
        <p:blipFill>
          <a:blip r:embed="rId4"/>
          <a:stretch>
            <a:fillRect/>
          </a:stretch>
        </p:blipFill>
        <p:spPr>
          <a:xfrm>
            <a:off x="939089" y="3636569"/>
            <a:ext cx="362102" cy="362102"/>
          </a:xfrm>
          <a:prstGeom prst="rect">
            <a:avLst/>
          </a:prstGeom>
        </p:spPr>
      </p:pic>
      <p:sp>
        <p:nvSpPr>
          <p:cNvPr id="11" name="Text 7"/>
          <p:cNvSpPr/>
          <p:nvPr/>
        </p:nvSpPr>
        <p:spPr>
          <a:xfrm>
            <a:off x="868680" y="4251960"/>
            <a:ext cx="301752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Observation</a:t>
            </a:r>
            <a:endParaRPr lang="en-US" sz="1600" dirty="0"/>
          </a:p>
        </p:txBody>
      </p:sp>
      <p:sp>
        <p:nvSpPr>
          <p:cNvPr id="12" name="Text 8"/>
          <p:cNvSpPr/>
          <p:nvPr/>
        </p:nvSpPr>
        <p:spPr>
          <a:xfrm>
            <a:off x="868680" y="4663440"/>
            <a:ext cx="3017520" cy="1280160"/>
          </a:xfrm>
          <a:prstGeom prst="rect">
            <a:avLst/>
          </a:prstGeom>
          <a:noFill/>
          <a:ln/>
        </p:spPr>
        <p:txBody>
          <a:bodyPr wrap="square" lIns="0" tIns="0" rIns="0" bIns="0" rtlCol="0" anchor="ctr"/>
          <a:lstStyle/>
          <a:p>
            <a:pPr marL="0" indent="0">
              <a:lnSpc>
                <a:spcPct val="130000"/>
              </a:lnSpc>
              <a:buNone/>
            </a:pPr>
            <a:r>
              <a:rPr lang="en-US" sz="1200" dirty="0">
                <a:solidFill>
                  <a:srgbClr val="D8CDD1"/>
                </a:solidFill>
                <a:latin typeface="Calibri" pitchFamily="34" charset="0"/>
                <a:ea typeface="Calibri" pitchFamily="34" charset="-122"/>
                <a:cs typeface="Calibri" pitchFamily="34" charset="-120"/>
              </a:rPr>
              <a:t>People rarely credit an ad for a beauty skill. They credit a sister, a friend, a colleague.</a:t>
            </a:r>
            <a:endParaRPr lang="en-US" sz="1200" dirty="0"/>
          </a:p>
        </p:txBody>
      </p:sp>
      <p:sp>
        <p:nvSpPr>
          <p:cNvPr id="13" name="Shape 9"/>
          <p:cNvSpPr/>
          <p:nvPr/>
        </p:nvSpPr>
        <p:spPr>
          <a:xfrm>
            <a:off x="4434840" y="3246120"/>
            <a:ext cx="3611880" cy="2880360"/>
          </a:xfrm>
          <a:prstGeom prst="roundRect">
            <a:avLst>
              <a:gd name="adj" fmla="val 3175"/>
            </a:avLst>
          </a:prstGeom>
          <a:solidFill>
            <a:srgbClr val="2A2A2A"/>
          </a:solidFill>
          <a:ln/>
        </p:spPr>
      </p:sp>
      <p:sp>
        <p:nvSpPr>
          <p:cNvPr id="14" name="Shape 10"/>
          <p:cNvSpPr/>
          <p:nvPr/>
        </p:nvSpPr>
        <p:spPr>
          <a:xfrm>
            <a:off x="4754880" y="3566160"/>
            <a:ext cx="502920" cy="502920"/>
          </a:xfrm>
          <a:prstGeom prst="ellipse">
            <a:avLst/>
          </a:prstGeom>
          <a:solidFill>
            <a:srgbClr val="FC2779"/>
          </a:solidFill>
          <a:ln/>
        </p:spPr>
      </p:sp>
      <p:pic>
        <p:nvPicPr>
          <p:cNvPr id="15" name="Image 2" descr="/home/claude/icons/repeat_white.png"/>
          <p:cNvPicPr>
            <a:picLocks noChangeAspect="1"/>
          </p:cNvPicPr>
          <p:nvPr/>
        </p:nvPicPr>
        <p:blipFill>
          <a:blip r:embed="rId5"/>
          <a:stretch>
            <a:fillRect/>
          </a:stretch>
        </p:blipFill>
        <p:spPr>
          <a:xfrm>
            <a:off x="4825289" y="3636569"/>
            <a:ext cx="362102" cy="362102"/>
          </a:xfrm>
          <a:prstGeom prst="rect">
            <a:avLst/>
          </a:prstGeom>
        </p:spPr>
      </p:pic>
      <p:sp>
        <p:nvSpPr>
          <p:cNvPr id="16" name="Text 11"/>
          <p:cNvSpPr/>
          <p:nvPr/>
        </p:nvSpPr>
        <p:spPr>
          <a:xfrm>
            <a:off x="4754880" y="4251960"/>
            <a:ext cx="301752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Behaviour</a:t>
            </a:r>
            <a:endParaRPr lang="en-US" sz="1600" dirty="0"/>
          </a:p>
        </p:txBody>
      </p:sp>
      <p:sp>
        <p:nvSpPr>
          <p:cNvPr id="17" name="Text 12"/>
          <p:cNvSpPr/>
          <p:nvPr/>
        </p:nvSpPr>
        <p:spPr>
          <a:xfrm>
            <a:off x="4754880" y="4663440"/>
            <a:ext cx="3017520" cy="1280160"/>
          </a:xfrm>
          <a:prstGeom prst="rect">
            <a:avLst/>
          </a:prstGeom>
          <a:noFill/>
          <a:ln/>
        </p:spPr>
        <p:txBody>
          <a:bodyPr wrap="square" lIns="0" tIns="0" rIns="0" bIns="0" rtlCol="0" anchor="ctr"/>
          <a:lstStyle/>
          <a:p>
            <a:pPr marL="0" indent="0">
              <a:lnSpc>
                <a:spcPct val="130000"/>
              </a:lnSpc>
              <a:buNone/>
            </a:pPr>
            <a:r>
              <a:rPr lang="en-US" sz="1200" dirty="0">
                <a:solidFill>
                  <a:srgbClr val="D8CDD1"/>
                </a:solidFill>
                <a:latin typeface="Calibri" pitchFamily="34" charset="0"/>
                <a:ea typeface="Calibri" pitchFamily="34" charset="-122"/>
                <a:cs typeface="Calibri" pitchFamily="34" charset="-120"/>
              </a:rPr>
              <a:t>They save and re-teach the trick to someone else — it travels, it doesn't stay put.</a:t>
            </a:r>
            <a:endParaRPr lang="en-US" sz="1200" dirty="0"/>
          </a:p>
        </p:txBody>
      </p:sp>
      <p:sp>
        <p:nvSpPr>
          <p:cNvPr id="18" name="Shape 13"/>
          <p:cNvSpPr/>
          <p:nvPr/>
        </p:nvSpPr>
        <p:spPr>
          <a:xfrm>
            <a:off x="8321040" y="3246120"/>
            <a:ext cx="3611880" cy="2880360"/>
          </a:xfrm>
          <a:prstGeom prst="roundRect">
            <a:avLst>
              <a:gd name="adj" fmla="val 3175"/>
            </a:avLst>
          </a:prstGeom>
          <a:solidFill>
            <a:srgbClr val="2A2A2A"/>
          </a:solidFill>
          <a:ln/>
        </p:spPr>
      </p:sp>
      <p:sp>
        <p:nvSpPr>
          <p:cNvPr id="19" name="Shape 14"/>
          <p:cNvSpPr/>
          <p:nvPr/>
        </p:nvSpPr>
        <p:spPr>
          <a:xfrm>
            <a:off x="8641080" y="3566160"/>
            <a:ext cx="502920" cy="502920"/>
          </a:xfrm>
          <a:prstGeom prst="ellipse">
            <a:avLst/>
          </a:prstGeom>
          <a:solidFill>
            <a:srgbClr val="FC2779"/>
          </a:solidFill>
          <a:ln/>
        </p:spPr>
      </p:sp>
      <p:pic>
        <p:nvPicPr>
          <p:cNvPr id="20" name="Image 3" descr="/home/claude/icons/heart_white.png"/>
          <p:cNvPicPr>
            <a:picLocks noChangeAspect="1"/>
          </p:cNvPicPr>
          <p:nvPr/>
        </p:nvPicPr>
        <p:blipFill>
          <a:blip r:embed="rId6"/>
          <a:stretch>
            <a:fillRect/>
          </a:stretch>
        </p:blipFill>
        <p:spPr>
          <a:xfrm>
            <a:off x="8711489" y="3636569"/>
            <a:ext cx="362102" cy="362102"/>
          </a:xfrm>
          <a:prstGeom prst="rect">
            <a:avLst/>
          </a:prstGeom>
        </p:spPr>
      </p:pic>
      <p:sp>
        <p:nvSpPr>
          <p:cNvPr id="21" name="Text 15"/>
          <p:cNvSpPr/>
          <p:nvPr/>
        </p:nvSpPr>
        <p:spPr>
          <a:xfrm>
            <a:off x="8641080" y="4251960"/>
            <a:ext cx="301752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Human Truth</a:t>
            </a:r>
            <a:endParaRPr lang="en-US" sz="1600" dirty="0"/>
          </a:p>
        </p:txBody>
      </p:sp>
      <p:sp>
        <p:nvSpPr>
          <p:cNvPr id="22" name="Text 16"/>
          <p:cNvSpPr/>
          <p:nvPr/>
        </p:nvSpPr>
        <p:spPr>
          <a:xfrm>
            <a:off x="8641080" y="4663440"/>
            <a:ext cx="3017520" cy="1280160"/>
          </a:xfrm>
          <a:prstGeom prst="rect">
            <a:avLst/>
          </a:prstGeom>
          <a:noFill/>
          <a:ln/>
        </p:spPr>
        <p:txBody>
          <a:bodyPr wrap="square" lIns="0" tIns="0" rIns="0" bIns="0" rtlCol="0" anchor="ctr"/>
          <a:lstStyle/>
          <a:p>
            <a:pPr marL="0" indent="0">
              <a:lnSpc>
                <a:spcPct val="130000"/>
              </a:lnSpc>
              <a:buNone/>
            </a:pPr>
            <a:r>
              <a:rPr lang="en-US" sz="1200" dirty="0">
                <a:solidFill>
                  <a:srgbClr val="D8CDD1"/>
                </a:solidFill>
                <a:latin typeface="Calibri" pitchFamily="34" charset="0"/>
                <a:ea typeface="Calibri" pitchFamily="34" charset="-122"/>
                <a:cs typeface="Calibri" pitchFamily="34" charset="-120"/>
              </a:rPr>
              <a:t>Confidence isn't self-taught. It's handed down, one person to the next.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300" dirty="0">
                <a:solidFill>
                  <a:srgbClr val="FC2779"/>
                </a:solidFill>
                <a:latin typeface="Calibri" pitchFamily="34" charset="0"/>
                <a:ea typeface="Calibri" pitchFamily="34" charset="-122"/>
                <a:cs typeface="Calibri" pitchFamily="34" charset="-120"/>
              </a:rPr>
              <a:t>THE CAMPAIGN PLATFORM</a:t>
            </a:r>
            <a:endParaRPr lang="en-US" sz="1300" dirty="0"/>
          </a:p>
        </p:txBody>
      </p:sp>
      <p:sp>
        <p:nvSpPr>
          <p:cNvPr id="3" name="Text 1"/>
          <p:cNvSpPr/>
          <p:nvPr/>
        </p:nvSpPr>
        <p:spPr>
          <a:xfrm>
            <a:off x="548640" y="868680"/>
            <a:ext cx="7315200" cy="822960"/>
          </a:xfrm>
          <a:prstGeom prst="rect">
            <a:avLst/>
          </a:prstGeom>
          <a:noFill/>
          <a:ln/>
        </p:spPr>
        <p:txBody>
          <a:bodyPr wrap="square" lIns="0" tIns="0" rIns="0" bIns="0" rtlCol="0" anchor="ctr"/>
          <a:lstStyle/>
          <a:p>
            <a:pPr marL="0" indent="0">
              <a:buNone/>
            </a:pPr>
            <a:r>
              <a:rPr lang="en-US" sz="3400" b="1" dirty="0">
                <a:solidFill>
                  <a:srgbClr val="1A1A1A"/>
                </a:solidFill>
                <a:latin typeface="Cambria" pitchFamily="34" charset="0"/>
                <a:ea typeface="Cambria" pitchFamily="34" charset="-122"/>
                <a:cs typeface="Cambria" pitchFamily="34" charset="-120"/>
              </a:rPr>
              <a:t>“Who Taught You?”</a:t>
            </a:r>
            <a:endParaRPr lang="en-US" sz="3400" dirty="0"/>
          </a:p>
        </p:txBody>
      </p:sp>
      <p:sp>
        <p:nvSpPr>
          <p:cNvPr id="4" name="Text 2"/>
          <p:cNvSpPr/>
          <p:nvPr/>
        </p:nvSpPr>
        <p:spPr>
          <a:xfrm>
            <a:off x="548640" y="1554480"/>
            <a:ext cx="7315200" cy="365760"/>
          </a:xfrm>
          <a:prstGeom prst="rect">
            <a:avLst/>
          </a:prstGeom>
          <a:noFill/>
          <a:ln/>
        </p:spPr>
        <p:txBody>
          <a:bodyPr wrap="square" lIns="0" tIns="0" rIns="0" bIns="0" rtlCol="0" anchor="ctr"/>
          <a:lstStyle/>
          <a:p>
            <a:pPr marL="0" indent="0">
              <a:buNone/>
            </a:pPr>
            <a:r>
              <a:rPr lang="en-US" sz="1400" i="1" dirty="0">
                <a:solidFill>
                  <a:srgbClr val="8C7C82"/>
                </a:solidFill>
                <a:latin typeface="Calibri" pitchFamily="34" charset="0"/>
                <a:ea typeface="Calibri" pitchFamily="34" charset="-122"/>
                <a:cs typeface="Calibri" pitchFamily="34" charset="-120"/>
              </a:rPr>
              <a:t>Tagline: Pass it on.</a:t>
            </a:r>
            <a:endParaRPr lang="en-US" sz="1400" dirty="0"/>
          </a:p>
        </p:txBody>
      </p:sp>
      <p:sp>
        <p:nvSpPr>
          <p:cNvPr id="5" name="Text 3"/>
          <p:cNvSpPr/>
          <p:nvPr/>
        </p:nvSpPr>
        <p:spPr>
          <a:xfrm>
            <a:off x="548640" y="2057400"/>
            <a:ext cx="6035040" cy="1371600"/>
          </a:xfrm>
          <a:prstGeom prst="rect">
            <a:avLst/>
          </a:prstGeom>
          <a:noFill/>
          <a:ln/>
        </p:spPr>
        <p:txBody>
          <a:bodyPr wrap="square" lIns="0" tIns="0" rIns="0" bIns="0" rtlCol="0" anchor="ctr"/>
          <a:lstStyle/>
          <a:p>
            <a:pPr marL="0" indent="0">
              <a:lnSpc>
                <a:spcPct val="135000"/>
              </a:lnSpc>
              <a:buNone/>
            </a:pPr>
            <a:r>
              <a:rPr lang="en-US" sz="1350" dirty="0">
                <a:solidFill>
                  <a:srgbClr val="3A3A3A"/>
                </a:solidFill>
                <a:latin typeface="Calibri" pitchFamily="34" charset="0"/>
                <a:ea typeface="Calibri" pitchFamily="34" charset="-122"/>
                <a:cs typeface="Calibri" pitchFamily="34" charset="-120"/>
              </a:rPr>
              <a:t>A standing platform — not a one-off campaign — where users, creators, and beauty icons credit who taught them their favourite beauty trick, recreate it, and then teach it forward to someone new. Every handoff is naturally anchored to the real product used.</a:t>
            </a:r>
            <a:endParaRPr lang="en-US" sz="1350" dirty="0"/>
          </a:p>
        </p:txBody>
      </p:sp>
      <p:sp>
        <p:nvSpPr>
          <p:cNvPr id="6" name="Shape 4"/>
          <p:cNvSpPr/>
          <p:nvPr/>
        </p:nvSpPr>
        <p:spPr>
          <a:xfrm>
            <a:off x="548640" y="3611880"/>
            <a:ext cx="457200" cy="457200"/>
          </a:xfrm>
          <a:prstGeom prst="ellipse">
            <a:avLst/>
          </a:prstGeom>
          <a:solidFill>
            <a:srgbClr val="FCE4EC"/>
          </a:solidFill>
          <a:ln/>
        </p:spPr>
      </p:sp>
      <p:pic>
        <p:nvPicPr>
          <p:cNvPr id="7" name="Image 0" descr="/home/claude/icons/heart_pink.png"/>
          <p:cNvPicPr>
            <a:picLocks noChangeAspect="1"/>
          </p:cNvPicPr>
          <p:nvPr/>
        </p:nvPicPr>
        <p:blipFill>
          <a:blip r:embed="rId3"/>
          <a:stretch>
            <a:fillRect/>
          </a:stretch>
        </p:blipFill>
        <p:spPr>
          <a:xfrm>
            <a:off x="612648" y="3675888"/>
            <a:ext cx="329184" cy="329184"/>
          </a:xfrm>
          <a:prstGeom prst="rect">
            <a:avLst/>
          </a:prstGeom>
        </p:spPr>
      </p:pic>
      <p:sp>
        <p:nvSpPr>
          <p:cNvPr id="8" name="Text 5"/>
          <p:cNvSpPr/>
          <p:nvPr/>
        </p:nvSpPr>
        <p:spPr>
          <a:xfrm>
            <a:off x="1188720" y="3657600"/>
            <a:ext cx="5303520" cy="36576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Credit your teacher</a:t>
            </a:r>
            <a:endParaRPr lang="en-US" sz="1300" dirty="0"/>
          </a:p>
        </p:txBody>
      </p:sp>
      <p:sp>
        <p:nvSpPr>
          <p:cNvPr id="9" name="Shape 6"/>
          <p:cNvSpPr/>
          <p:nvPr/>
        </p:nvSpPr>
        <p:spPr>
          <a:xfrm>
            <a:off x="548640" y="4233672"/>
            <a:ext cx="457200" cy="457200"/>
          </a:xfrm>
          <a:prstGeom prst="ellipse">
            <a:avLst/>
          </a:prstGeom>
          <a:solidFill>
            <a:srgbClr val="FCE4EC"/>
          </a:solidFill>
          <a:ln/>
        </p:spPr>
      </p:sp>
      <p:pic>
        <p:nvPicPr>
          <p:cNvPr id="10" name="Image 1" descr="/home/claude/icons/lipstick_pink.png"/>
          <p:cNvPicPr>
            <a:picLocks noChangeAspect="1"/>
          </p:cNvPicPr>
          <p:nvPr/>
        </p:nvPicPr>
        <p:blipFill>
          <a:blip r:embed="rId4"/>
          <a:stretch>
            <a:fillRect/>
          </a:stretch>
        </p:blipFill>
        <p:spPr>
          <a:xfrm>
            <a:off x="612648" y="4297680"/>
            <a:ext cx="329184" cy="329184"/>
          </a:xfrm>
          <a:prstGeom prst="rect">
            <a:avLst/>
          </a:prstGeom>
        </p:spPr>
      </p:pic>
      <p:sp>
        <p:nvSpPr>
          <p:cNvPr id="11" name="Text 7"/>
          <p:cNvSpPr/>
          <p:nvPr/>
        </p:nvSpPr>
        <p:spPr>
          <a:xfrm>
            <a:off x="1188720" y="4279392"/>
            <a:ext cx="5303520" cy="36576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Recreate the trick, tag the product</a:t>
            </a:r>
            <a:endParaRPr lang="en-US" sz="1300" dirty="0"/>
          </a:p>
        </p:txBody>
      </p:sp>
      <p:sp>
        <p:nvSpPr>
          <p:cNvPr id="12" name="Shape 8"/>
          <p:cNvSpPr/>
          <p:nvPr/>
        </p:nvSpPr>
        <p:spPr>
          <a:xfrm>
            <a:off x="548640" y="4855464"/>
            <a:ext cx="457200" cy="457200"/>
          </a:xfrm>
          <a:prstGeom prst="ellipse">
            <a:avLst/>
          </a:prstGeom>
          <a:solidFill>
            <a:srgbClr val="FCE4EC"/>
          </a:solidFill>
          <a:ln/>
        </p:spPr>
      </p:sp>
      <p:pic>
        <p:nvPicPr>
          <p:cNvPr id="13" name="Image 2" descr="/home/claude/icons/repeat_pink.png"/>
          <p:cNvPicPr>
            <a:picLocks noChangeAspect="1"/>
          </p:cNvPicPr>
          <p:nvPr/>
        </p:nvPicPr>
        <p:blipFill>
          <a:blip r:embed="rId5"/>
          <a:stretch>
            <a:fillRect/>
          </a:stretch>
        </p:blipFill>
        <p:spPr>
          <a:xfrm>
            <a:off x="612648" y="4919472"/>
            <a:ext cx="329184" cy="329184"/>
          </a:xfrm>
          <a:prstGeom prst="rect">
            <a:avLst/>
          </a:prstGeom>
        </p:spPr>
      </p:pic>
      <p:sp>
        <p:nvSpPr>
          <p:cNvPr id="14" name="Text 9"/>
          <p:cNvSpPr/>
          <p:nvPr/>
        </p:nvSpPr>
        <p:spPr>
          <a:xfrm>
            <a:off x="1188720" y="4901184"/>
            <a:ext cx="5303520" cy="365760"/>
          </a:xfrm>
          <a:prstGeom prst="rect">
            <a:avLst/>
          </a:prstGeom>
          <a:noFill/>
          <a:ln/>
        </p:spPr>
        <p:txBody>
          <a:bodyPr wrap="square" lIns="0" tIns="0" rIns="0" bIns="0"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Challenge someone new to pass it on</a:t>
            </a:r>
            <a:endParaRPr lang="en-US" sz="1300" dirty="0"/>
          </a:p>
        </p:txBody>
      </p:sp>
      <p:sp>
        <p:nvSpPr>
          <p:cNvPr id="15" name="Text 10"/>
          <p:cNvSpPr/>
          <p:nvPr/>
        </p:nvSpPr>
        <p:spPr>
          <a:xfrm>
            <a:off x="548640" y="5669280"/>
            <a:ext cx="5486400" cy="274320"/>
          </a:xfrm>
          <a:prstGeom prst="rect">
            <a:avLst/>
          </a:prstGeom>
          <a:noFill/>
          <a:ln/>
        </p:spPr>
        <p:txBody>
          <a:bodyPr wrap="square" lIns="0" tIns="0" rIns="0" bIns="0" rtlCol="0" anchor="ctr"/>
          <a:lstStyle/>
          <a:p>
            <a:pPr marL="0" indent="0">
              <a:buNone/>
            </a:pPr>
            <a:r>
              <a:rPr lang="en-US" sz="1050" b="1" kern="0" spc="150" dirty="0">
                <a:solidFill>
                  <a:srgbClr val="FC2779"/>
                </a:solidFill>
                <a:latin typeface="Calibri" pitchFamily="34" charset="0"/>
                <a:ea typeface="Calibri" pitchFamily="34" charset="-122"/>
                <a:cs typeface="Calibri" pitchFamily="34" charset="-120"/>
              </a:rPr>
              <a:t>WHY IT WORKS FOR NYKAA</a:t>
            </a:r>
            <a:endParaRPr lang="en-US" sz="1050" dirty="0"/>
          </a:p>
        </p:txBody>
      </p:sp>
      <p:sp>
        <p:nvSpPr>
          <p:cNvPr id="16" name="Text 11"/>
          <p:cNvSpPr/>
          <p:nvPr/>
        </p:nvSpPr>
        <p:spPr>
          <a:xfrm>
            <a:off x="548640" y="5943600"/>
            <a:ext cx="6217920" cy="548640"/>
          </a:xfrm>
          <a:prstGeom prst="rect">
            <a:avLst/>
          </a:prstGeom>
          <a:noFill/>
          <a:ln/>
        </p:spPr>
        <p:txBody>
          <a:bodyPr wrap="square" lIns="0" tIns="0" rIns="0" bIns="0" rtlCol="0" anchor="ctr"/>
          <a:lstStyle/>
          <a:p>
            <a:pPr marL="0" indent="0">
              <a:lnSpc>
                <a:spcPct val="125000"/>
              </a:lnSpc>
              <a:buNone/>
            </a:pPr>
            <a:r>
              <a:rPr lang="en-US" sz="1050" dirty="0">
                <a:solidFill>
                  <a:srgbClr val="8C7C82"/>
                </a:solidFill>
                <a:latin typeface="Calibri" pitchFamily="34" charset="0"/>
                <a:ea typeface="Calibri" pitchFamily="34" charset="-122"/>
                <a:cs typeface="Calibri" pitchFamily="34" charset="-120"/>
              </a:rPr>
              <a:t>Builds on Nykaa Network + micro-creator ecosystem  ·  naturally chain-shareable  ·  product-honest tagging</a:t>
            </a:r>
            <a:endParaRPr lang="en-US" sz="1050" dirty="0"/>
          </a:p>
        </p:txBody>
      </p:sp>
      <p:sp>
        <p:nvSpPr>
          <p:cNvPr id="17" name="Shape 12"/>
          <p:cNvSpPr/>
          <p:nvPr/>
        </p:nvSpPr>
        <p:spPr>
          <a:xfrm>
            <a:off x="7863840" y="640080"/>
            <a:ext cx="3474720" cy="5577840"/>
          </a:xfrm>
          <a:prstGeom prst="roundRect">
            <a:avLst>
              <a:gd name="adj" fmla="val 5789"/>
            </a:avLst>
          </a:prstGeom>
          <a:solidFill>
            <a:srgbClr val="1A1A1A"/>
          </a:solidFill>
          <a:ln/>
        </p:spPr>
      </p:sp>
      <p:sp>
        <p:nvSpPr>
          <p:cNvPr id="18" name="Shape 13"/>
          <p:cNvSpPr/>
          <p:nvPr/>
        </p:nvSpPr>
        <p:spPr>
          <a:xfrm>
            <a:off x="7927848" y="704088"/>
            <a:ext cx="3346704" cy="5449824"/>
          </a:xfrm>
          <a:prstGeom prst="roundRect">
            <a:avLst>
              <a:gd name="adj" fmla="val 4372"/>
            </a:avLst>
          </a:prstGeom>
          <a:solidFill>
            <a:srgbClr val="FFFFFF"/>
          </a:solidFill>
          <a:ln/>
        </p:spPr>
      </p:sp>
      <p:sp>
        <p:nvSpPr>
          <p:cNvPr id="19" name="Shape 14"/>
          <p:cNvSpPr/>
          <p:nvPr/>
        </p:nvSpPr>
        <p:spPr>
          <a:xfrm>
            <a:off x="8092440" y="868680"/>
            <a:ext cx="292608" cy="292608"/>
          </a:xfrm>
          <a:prstGeom prst="ellipse">
            <a:avLst/>
          </a:prstGeom>
          <a:solidFill>
            <a:srgbClr val="FC2779"/>
          </a:solidFill>
          <a:ln/>
        </p:spPr>
      </p:sp>
      <p:sp>
        <p:nvSpPr>
          <p:cNvPr id="20" name="Text 15"/>
          <p:cNvSpPr/>
          <p:nvPr/>
        </p:nvSpPr>
        <p:spPr>
          <a:xfrm>
            <a:off x="8458200" y="877824"/>
            <a:ext cx="1975104" cy="219456"/>
          </a:xfrm>
          <a:prstGeom prst="rect">
            <a:avLst/>
          </a:prstGeom>
          <a:noFill/>
          <a:ln/>
        </p:spPr>
        <p:txBody>
          <a:bodyPr wrap="square" lIns="0" tIns="0" rIns="0" bIns="0" rtlCol="0" anchor="ctr"/>
          <a:lstStyle/>
          <a:p>
            <a:pPr marL="0" indent="0">
              <a:buNone/>
            </a:pPr>
            <a:r>
              <a:rPr lang="en-US" sz="950" b="1" dirty="0">
                <a:solidFill>
                  <a:srgbClr val="1A1A1A"/>
                </a:solidFill>
                <a:latin typeface="Calibri" pitchFamily="34" charset="0"/>
                <a:ea typeface="Calibri" pitchFamily="34" charset="-122"/>
                <a:cs typeface="Calibri" pitchFamily="34" charset="-120"/>
              </a:rPr>
              <a:t>@ashawears.it</a:t>
            </a:r>
            <a:endParaRPr lang="en-US" sz="950" dirty="0"/>
          </a:p>
        </p:txBody>
      </p:sp>
      <p:sp>
        <p:nvSpPr>
          <p:cNvPr id="21" name="Text 16"/>
          <p:cNvSpPr/>
          <p:nvPr/>
        </p:nvSpPr>
        <p:spPr>
          <a:xfrm>
            <a:off x="10314432" y="886968"/>
            <a:ext cx="868680" cy="201168"/>
          </a:xfrm>
          <a:prstGeom prst="rect">
            <a:avLst/>
          </a:prstGeom>
          <a:noFill/>
          <a:ln/>
        </p:spPr>
        <p:txBody>
          <a:bodyPr wrap="square" lIns="0" tIns="0" rIns="0" bIns="0" rtlCol="0" anchor="ctr"/>
          <a:lstStyle/>
          <a:p>
            <a:pPr marL="0" indent="0" algn="r">
              <a:buNone/>
            </a:pPr>
            <a:r>
              <a:rPr lang="en-US" sz="800" b="1" dirty="0">
                <a:solidFill>
                  <a:srgbClr val="FC2779"/>
                </a:solidFill>
                <a:latin typeface="Calibri" pitchFamily="34" charset="0"/>
                <a:ea typeface="Calibri" pitchFamily="34" charset="-122"/>
                <a:cs typeface="Calibri" pitchFamily="34" charset="-120"/>
              </a:rPr>
              <a:t>Following</a:t>
            </a:r>
            <a:endParaRPr lang="en-US" sz="800" dirty="0"/>
          </a:p>
        </p:txBody>
      </p:sp>
      <p:sp>
        <p:nvSpPr>
          <p:cNvPr id="22" name="Shape 17"/>
          <p:cNvSpPr/>
          <p:nvPr/>
        </p:nvSpPr>
        <p:spPr>
          <a:xfrm>
            <a:off x="7927848" y="1271016"/>
            <a:ext cx="3346704" cy="3712464"/>
          </a:xfrm>
          <a:prstGeom prst="rect">
            <a:avLst/>
          </a:prstGeom>
          <a:solidFill>
            <a:srgbClr val="FCE4EC"/>
          </a:solidFill>
          <a:ln/>
        </p:spPr>
      </p:sp>
      <p:sp>
        <p:nvSpPr>
          <p:cNvPr id="23" name="Shape 18"/>
          <p:cNvSpPr/>
          <p:nvPr/>
        </p:nvSpPr>
        <p:spPr>
          <a:xfrm>
            <a:off x="9121140" y="2647188"/>
            <a:ext cx="960120" cy="960120"/>
          </a:xfrm>
          <a:prstGeom prst="ellipse">
            <a:avLst/>
          </a:prstGeom>
          <a:solidFill>
            <a:srgbClr val="FFFFFF"/>
          </a:solidFill>
          <a:ln/>
        </p:spPr>
      </p:sp>
      <p:pic>
        <p:nvPicPr>
          <p:cNvPr id="24" name="Image 3" descr="/home/claude/icons/repeat_pink.png"/>
          <p:cNvPicPr>
            <a:picLocks noChangeAspect="1"/>
          </p:cNvPicPr>
          <p:nvPr/>
        </p:nvPicPr>
        <p:blipFill>
          <a:blip r:embed="rId5"/>
          <a:stretch>
            <a:fillRect/>
          </a:stretch>
        </p:blipFill>
        <p:spPr>
          <a:xfrm>
            <a:off x="9326880" y="2852928"/>
            <a:ext cx="548640" cy="548640"/>
          </a:xfrm>
          <a:prstGeom prst="rect">
            <a:avLst/>
          </a:prstGeom>
        </p:spPr>
      </p:pic>
      <p:sp>
        <p:nvSpPr>
          <p:cNvPr id="25" name="Shape 19"/>
          <p:cNvSpPr/>
          <p:nvPr/>
        </p:nvSpPr>
        <p:spPr>
          <a:xfrm>
            <a:off x="7927848" y="4599432"/>
            <a:ext cx="3346704" cy="384048"/>
          </a:xfrm>
          <a:prstGeom prst="rect">
            <a:avLst/>
          </a:prstGeom>
          <a:solidFill>
            <a:srgbClr val="1A1A1A">
              <a:alpha val="70000"/>
            </a:srgbClr>
          </a:solidFill>
          <a:ln/>
        </p:spPr>
      </p:sp>
      <p:sp>
        <p:nvSpPr>
          <p:cNvPr id="26" name="Text 20"/>
          <p:cNvSpPr/>
          <p:nvPr/>
        </p:nvSpPr>
        <p:spPr>
          <a:xfrm>
            <a:off x="8055864" y="4617720"/>
            <a:ext cx="3090672" cy="347472"/>
          </a:xfrm>
          <a:prstGeom prst="rect">
            <a:avLst/>
          </a:prstGeom>
          <a:noFill/>
          <a:ln/>
        </p:spPr>
        <p:txBody>
          <a:bodyPr wrap="square" lIns="0" tIns="0" rIns="0" bIns="0"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Passing it on →</a:t>
            </a:r>
            <a:endParaRPr lang="en-US" sz="1100" dirty="0"/>
          </a:p>
        </p:txBody>
      </p:sp>
      <p:pic>
        <p:nvPicPr>
          <p:cNvPr id="27" name="Image 4" descr="/home/claude/icons/heart_black.png"/>
          <p:cNvPicPr>
            <a:picLocks noChangeAspect="1"/>
          </p:cNvPicPr>
          <p:nvPr/>
        </p:nvPicPr>
        <p:blipFill>
          <a:blip r:embed="rId3"/>
          <a:stretch>
            <a:fillRect/>
          </a:stretch>
        </p:blipFill>
        <p:spPr>
          <a:xfrm>
            <a:off x="8092440" y="5111496"/>
            <a:ext cx="201168" cy="201168"/>
          </a:xfrm>
          <a:prstGeom prst="rect">
            <a:avLst/>
          </a:prstGeom>
        </p:spPr>
      </p:pic>
      <p:sp>
        <p:nvSpPr>
          <p:cNvPr id="28" name="Text 21"/>
          <p:cNvSpPr/>
          <p:nvPr/>
        </p:nvSpPr>
        <p:spPr>
          <a:xfrm>
            <a:off x="8330184" y="5093208"/>
            <a:ext cx="548640" cy="237744"/>
          </a:xfrm>
          <a:prstGeom prst="rect">
            <a:avLst/>
          </a:prstGeom>
          <a:noFill/>
          <a:ln/>
        </p:spPr>
        <p:txBody>
          <a:bodyPr wrap="square" lIns="0" tIns="0" rIns="0" bIns="0" rtlCol="0" anchor="ctr"/>
          <a:lstStyle/>
          <a:p>
            <a:pPr marL="0" indent="0">
              <a:buNone/>
            </a:pPr>
            <a:r>
              <a:rPr lang="en-US" sz="900" dirty="0">
                <a:solidFill>
                  <a:srgbClr val="3A3A3A"/>
                </a:solidFill>
                <a:latin typeface="Calibri" pitchFamily="34" charset="0"/>
                <a:ea typeface="Calibri" pitchFamily="34" charset="-122"/>
                <a:cs typeface="Calibri" pitchFamily="34" charset="-120"/>
              </a:rPr>
              <a:t>1,890</a:t>
            </a:r>
            <a:endParaRPr lang="en-US" sz="900" dirty="0"/>
          </a:p>
        </p:txBody>
      </p:sp>
      <p:pic>
        <p:nvPicPr>
          <p:cNvPr id="29" name="Image 5" descr="/home/claude/icons/message_black.png"/>
          <p:cNvPicPr>
            <a:picLocks noChangeAspect="1"/>
          </p:cNvPicPr>
          <p:nvPr/>
        </p:nvPicPr>
        <p:blipFill>
          <a:blip r:embed="rId6"/>
          <a:stretch>
            <a:fillRect/>
          </a:stretch>
        </p:blipFill>
        <p:spPr>
          <a:xfrm>
            <a:off x="8887968" y="5111496"/>
            <a:ext cx="201168" cy="201168"/>
          </a:xfrm>
          <a:prstGeom prst="rect">
            <a:avLst/>
          </a:prstGeom>
        </p:spPr>
      </p:pic>
      <p:sp>
        <p:nvSpPr>
          <p:cNvPr id="30" name="Text 22"/>
          <p:cNvSpPr/>
          <p:nvPr/>
        </p:nvSpPr>
        <p:spPr>
          <a:xfrm>
            <a:off x="9125712" y="5093208"/>
            <a:ext cx="548640" cy="237744"/>
          </a:xfrm>
          <a:prstGeom prst="rect">
            <a:avLst/>
          </a:prstGeom>
          <a:noFill/>
          <a:ln/>
        </p:spPr>
        <p:txBody>
          <a:bodyPr wrap="square" lIns="0" tIns="0" rIns="0" bIns="0" rtlCol="0" anchor="ctr"/>
          <a:lstStyle/>
          <a:p>
            <a:pPr marL="0" indent="0">
              <a:buNone/>
            </a:pPr>
            <a:r>
              <a:rPr lang="en-US" sz="900" dirty="0">
                <a:solidFill>
                  <a:srgbClr val="3A3A3A"/>
                </a:solidFill>
                <a:latin typeface="Calibri" pitchFamily="34" charset="0"/>
                <a:ea typeface="Calibri" pitchFamily="34" charset="-122"/>
                <a:cs typeface="Calibri" pitchFamily="34" charset="-120"/>
              </a:rPr>
              <a:t>203</a:t>
            </a:r>
            <a:endParaRPr lang="en-US" sz="900" dirty="0"/>
          </a:p>
        </p:txBody>
      </p:sp>
      <p:pic>
        <p:nvPicPr>
          <p:cNvPr id="31" name="Image 6" descr="/home/claude/icons/repeat_black.png"/>
          <p:cNvPicPr>
            <a:picLocks noChangeAspect="1"/>
          </p:cNvPicPr>
          <p:nvPr/>
        </p:nvPicPr>
        <p:blipFill>
          <a:blip r:embed="rId5"/>
          <a:stretch>
            <a:fillRect/>
          </a:stretch>
        </p:blipFill>
        <p:spPr>
          <a:xfrm>
            <a:off x="9683496" y="5111496"/>
            <a:ext cx="201168" cy="201168"/>
          </a:xfrm>
          <a:prstGeom prst="rect">
            <a:avLst/>
          </a:prstGeom>
        </p:spPr>
      </p:pic>
      <p:sp>
        <p:nvSpPr>
          <p:cNvPr id="32" name="Text 23"/>
          <p:cNvSpPr/>
          <p:nvPr/>
        </p:nvSpPr>
        <p:spPr>
          <a:xfrm>
            <a:off x="8092440" y="5422392"/>
            <a:ext cx="3017520" cy="457200"/>
          </a:xfrm>
          <a:prstGeom prst="rect">
            <a:avLst/>
          </a:prstGeom>
          <a:noFill/>
          <a:ln/>
        </p:spPr>
        <p:txBody>
          <a:bodyPr wrap="square" lIns="0" tIns="0" rIns="0" bIns="0" rtlCol="0" anchor="ctr"/>
          <a:lstStyle/>
          <a:p>
            <a:pPr marL="0" indent="0">
              <a:lnSpc>
                <a:spcPct val="120000"/>
              </a:lnSpc>
              <a:buNone/>
            </a:pPr>
            <a:r>
              <a:rPr lang="en-US" sz="900" b="1" dirty="0">
                <a:solidFill>
                  <a:srgbClr val="FC2779"/>
                </a:solidFill>
                <a:latin typeface="Calibri" pitchFamily="34" charset="0"/>
                <a:ea typeface="Calibri" pitchFamily="34" charset="-122"/>
                <a:cs typeface="Calibri" pitchFamily="34" charset="-120"/>
              </a:rPr>
              <a:t>Learned this from @simran, teaching</a:t>
            </a:r>
            <a:endParaRPr lang="en-US" sz="900" dirty="0"/>
          </a:p>
          <a:p>
            <a:pPr marL="0" indent="0">
              <a:lnSpc>
                <a:spcPct val="120000"/>
              </a:lnSpc>
              <a:buNone/>
            </a:pPr>
            <a:r>
              <a:rPr lang="en-US" sz="900" b="1" dirty="0">
                <a:solidFill>
                  <a:srgbClr val="FC2779"/>
                </a:solidFill>
                <a:latin typeface="Calibri" pitchFamily="34" charset="0"/>
                <a:ea typeface="Calibri" pitchFamily="34" charset="-122"/>
                <a:cs typeface="Calibri" pitchFamily="34" charset="-120"/>
              </a:rPr>
              <a:t>@priya next — #WhoTaughtYou</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365760"/>
          </a:xfrm>
          <a:prstGeom prst="rect">
            <a:avLst/>
          </a:prstGeom>
          <a:noFill/>
          <a:ln/>
        </p:spPr>
        <p:txBody>
          <a:bodyPr wrap="square" lIns="0" tIns="0" rIns="0" bIns="0" rtlCol="0" anchor="ctr"/>
          <a:lstStyle/>
          <a:p>
            <a:pPr marL="0" indent="0">
              <a:buNone/>
            </a:pPr>
            <a:r>
              <a:rPr lang="en-US" sz="1300" b="1" kern="0" spc="300" dirty="0">
                <a:solidFill>
                  <a:srgbClr val="FC2779"/>
                </a:solidFill>
                <a:latin typeface="Calibri" pitchFamily="34" charset="0"/>
                <a:ea typeface="Calibri" pitchFamily="34" charset="-122"/>
                <a:cs typeface="Calibri" pitchFamily="34" charset="-120"/>
              </a:rPr>
              <a:t>CONTENT &amp; CREATOR STRATEGY</a:t>
            </a:r>
            <a:endParaRPr lang="en-US" sz="1300" dirty="0"/>
          </a:p>
        </p:txBody>
      </p:sp>
      <p:sp>
        <p:nvSpPr>
          <p:cNvPr id="3" name="Text 1"/>
          <p:cNvSpPr/>
          <p:nvPr/>
        </p:nvSpPr>
        <p:spPr>
          <a:xfrm>
            <a:off x="548640" y="868680"/>
            <a:ext cx="10058400" cy="54864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Built for saves and hand-offs, not just likes</a:t>
            </a:r>
            <a:endParaRPr lang="en-US" sz="2400" dirty="0"/>
          </a:p>
        </p:txBody>
      </p:sp>
      <p:sp>
        <p:nvSpPr>
          <p:cNvPr id="4" name="Shape 2"/>
          <p:cNvSpPr/>
          <p:nvPr/>
        </p:nvSpPr>
        <p:spPr>
          <a:xfrm>
            <a:off x="548640" y="1691640"/>
            <a:ext cx="2697480" cy="3566160"/>
          </a:xfrm>
          <a:prstGeom prst="roundRect">
            <a:avLst>
              <a:gd name="adj" fmla="val 3390"/>
            </a:avLst>
          </a:prstGeom>
          <a:solidFill>
            <a:srgbClr val="FCE4EC"/>
          </a:solidFill>
          <a:ln/>
        </p:spPr>
      </p:sp>
      <p:sp>
        <p:nvSpPr>
          <p:cNvPr id="5" name="Shape 3"/>
          <p:cNvSpPr/>
          <p:nvPr/>
        </p:nvSpPr>
        <p:spPr>
          <a:xfrm>
            <a:off x="685800" y="1828800"/>
            <a:ext cx="2423160" cy="1371600"/>
          </a:xfrm>
          <a:prstGeom prst="roundRect">
            <a:avLst>
              <a:gd name="adj" fmla="val 5333"/>
            </a:avLst>
          </a:prstGeom>
          <a:solidFill>
            <a:srgbClr val="FC2779"/>
          </a:solidFill>
          <a:ln/>
        </p:spPr>
      </p:sp>
      <p:sp>
        <p:nvSpPr>
          <p:cNvPr id="6" name="Shape 4"/>
          <p:cNvSpPr/>
          <p:nvPr/>
        </p:nvSpPr>
        <p:spPr>
          <a:xfrm>
            <a:off x="1520190" y="1993392"/>
            <a:ext cx="754380" cy="754380"/>
          </a:xfrm>
          <a:prstGeom prst="ellipse">
            <a:avLst/>
          </a:prstGeom>
          <a:solidFill>
            <a:srgbClr val="FFFFFF">
              <a:alpha val="85000"/>
            </a:srgbClr>
          </a:solidFill>
          <a:ln/>
        </p:spPr>
      </p:sp>
      <p:pic>
        <p:nvPicPr>
          <p:cNvPr id="7" name="Image 0" descr="/home/claude/icons/message_white.png"/>
          <p:cNvPicPr>
            <a:picLocks noChangeAspect="1"/>
          </p:cNvPicPr>
          <p:nvPr/>
        </p:nvPicPr>
        <p:blipFill>
          <a:blip r:embed="rId3"/>
          <a:stretch>
            <a:fillRect/>
          </a:stretch>
        </p:blipFill>
        <p:spPr>
          <a:xfrm>
            <a:off x="1689926" y="2163128"/>
            <a:ext cx="414909" cy="414909"/>
          </a:xfrm>
          <a:prstGeom prst="rect">
            <a:avLst/>
          </a:prstGeom>
        </p:spPr>
      </p:pic>
      <p:sp>
        <p:nvSpPr>
          <p:cNvPr id="8" name="Shape 5"/>
          <p:cNvSpPr/>
          <p:nvPr/>
        </p:nvSpPr>
        <p:spPr>
          <a:xfrm>
            <a:off x="777240" y="2907792"/>
            <a:ext cx="512064" cy="219456"/>
          </a:xfrm>
          <a:prstGeom prst="roundRect">
            <a:avLst>
              <a:gd name="adj" fmla="val 20833"/>
            </a:avLst>
          </a:prstGeom>
          <a:solidFill>
            <a:srgbClr val="1A1A1A">
              <a:alpha val="85000"/>
            </a:srgbClr>
          </a:solidFill>
          <a:ln/>
        </p:spPr>
      </p:sp>
      <p:sp>
        <p:nvSpPr>
          <p:cNvPr id="9" name="Text 6"/>
          <p:cNvSpPr/>
          <p:nvPr/>
        </p:nvSpPr>
        <p:spPr>
          <a:xfrm>
            <a:off x="777240" y="2898648"/>
            <a:ext cx="512064"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REEL</a:t>
            </a:r>
            <a:endParaRPr lang="en-US" sz="800" dirty="0"/>
          </a:p>
        </p:txBody>
      </p:sp>
      <p:sp>
        <p:nvSpPr>
          <p:cNvPr id="10" name="Text 7"/>
          <p:cNvSpPr/>
          <p:nvPr/>
        </p:nvSpPr>
        <p:spPr>
          <a:xfrm>
            <a:off x="777240" y="3337560"/>
            <a:ext cx="2240280" cy="365760"/>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Reels</a:t>
            </a:r>
            <a:endParaRPr lang="en-US" sz="1550" dirty="0"/>
          </a:p>
        </p:txBody>
      </p:sp>
      <p:sp>
        <p:nvSpPr>
          <p:cNvPr id="11" name="Text 8"/>
          <p:cNvSpPr/>
          <p:nvPr/>
        </p:nvSpPr>
        <p:spPr>
          <a:xfrm>
            <a:off x="777240" y="3703320"/>
            <a:ext cx="2240280" cy="1463040"/>
          </a:xfrm>
          <a:prstGeom prst="rect">
            <a:avLst/>
          </a:prstGeom>
          <a:noFill/>
          <a:ln/>
        </p:spPr>
        <p:txBody>
          <a:bodyPr wrap="square" lIns="0" tIns="0" rIns="0" bIns="0" rtlCol="0" anchor="ctr"/>
          <a:lstStyle/>
          <a:p>
            <a:pPr marL="0" indent="0">
              <a:lnSpc>
                <a:spcPct val="128000"/>
              </a:lnSpc>
              <a:buNone/>
            </a:pPr>
            <a:r>
              <a:rPr lang="en-US" sz="1100" dirty="0">
                <a:solidFill>
                  <a:srgbClr val="3A3A3A"/>
                </a:solidFill>
                <a:latin typeface="Calibri" pitchFamily="34" charset="0"/>
                <a:ea typeface="Calibri" pitchFamily="34" charset="-122"/>
                <a:cs typeface="Calibri" pitchFamily="34" charset="-120"/>
              </a:rPr>
              <a:t>“Who taught you this?” duet-style reels recreating a trick, ending with a tag-forward challenge.</a:t>
            </a:r>
            <a:endParaRPr lang="en-US" sz="1100" dirty="0"/>
          </a:p>
        </p:txBody>
      </p:sp>
      <p:sp>
        <p:nvSpPr>
          <p:cNvPr id="12" name="Shape 9"/>
          <p:cNvSpPr/>
          <p:nvPr/>
        </p:nvSpPr>
        <p:spPr>
          <a:xfrm>
            <a:off x="3474720" y="1691640"/>
            <a:ext cx="2697480" cy="3566160"/>
          </a:xfrm>
          <a:prstGeom prst="roundRect">
            <a:avLst>
              <a:gd name="adj" fmla="val 3390"/>
            </a:avLst>
          </a:prstGeom>
          <a:solidFill>
            <a:srgbClr val="FCE4EC"/>
          </a:solidFill>
          <a:ln/>
        </p:spPr>
      </p:sp>
      <p:sp>
        <p:nvSpPr>
          <p:cNvPr id="13" name="Shape 10"/>
          <p:cNvSpPr/>
          <p:nvPr/>
        </p:nvSpPr>
        <p:spPr>
          <a:xfrm>
            <a:off x="3611880" y="1828800"/>
            <a:ext cx="2423160" cy="1371600"/>
          </a:xfrm>
          <a:prstGeom prst="roundRect">
            <a:avLst>
              <a:gd name="adj" fmla="val 5333"/>
            </a:avLst>
          </a:prstGeom>
          <a:solidFill>
            <a:srgbClr val="1A1A1A"/>
          </a:solidFill>
          <a:ln/>
        </p:spPr>
      </p:sp>
      <p:sp>
        <p:nvSpPr>
          <p:cNvPr id="14" name="Shape 11"/>
          <p:cNvSpPr/>
          <p:nvPr/>
        </p:nvSpPr>
        <p:spPr>
          <a:xfrm>
            <a:off x="4446270" y="1993392"/>
            <a:ext cx="754380" cy="754380"/>
          </a:xfrm>
          <a:prstGeom prst="ellipse">
            <a:avLst/>
          </a:prstGeom>
          <a:solidFill>
            <a:srgbClr val="FFFFFF">
              <a:alpha val="85000"/>
            </a:srgbClr>
          </a:solidFill>
          <a:ln/>
        </p:spPr>
      </p:sp>
      <p:pic>
        <p:nvPicPr>
          <p:cNvPr id="15" name="Image 1" descr="/home/claude/icons/share_white.png"/>
          <p:cNvPicPr>
            <a:picLocks noChangeAspect="1"/>
          </p:cNvPicPr>
          <p:nvPr/>
        </p:nvPicPr>
        <p:blipFill>
          <a:blip r:embed="rId4"/>
          <a:stretch>
            <a:fillRect/>
          </a:stretch>
        </p:blipFill>
        <p:spPr>
          <a:xfrm>
            <a:off x="4616006" y="2163128"/>
            <a:ext cx="414909" cy="414909"/>
          </a:xfrm>
          <a:prstGeom prst="rect">
            <a:avLst/>
          </a:prstGeom>
        </p:spPr>
      </p:pic>
      <p:sp>
        <p:nvSpPr>
          <p:cNvPr id="16" name="Shape 12"/>
          <p:cNvSpPr/>
          <p:nvPr/>
        </p:nvSpPr>
        <p:spPr>
          <a:xfrm>
            <a:off x="3703320" y="2907792"/>
            <a:ext cx="841248" cy="219456"/>
          </a:xfrm>
          <a:prstGeom prst="roundRect">
            <a:avLst>
              <a:gd name="adj" fmla="val 20833"/>
            </a:avLst>
          </a:prstGeom>
          <a:solidFill>
            <a:srgbClr val="1A1A1A">
              <a:alpha val="85000"/>
            </a:srgbClr>
          </a:solidFill>
          <a:ln/>
        </p:spPr>
      </p:sp>
      <p:sp>
        <p:nvSpPr>
          <p:cNvPr id="17" name="Text 13"/>
          <p:cNvSpPr/>
          <p:nvPr/>
        </p:nvSpPr>
        <p:spPr>
          <a:xfrm>
            <a:off x="3703320" y="2898648"/>
            <a:ext cx="84124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CAROUSEL</a:t>
            </a:r>
            <a:endParaRPr lang="en-US" sz="800" dirty="0"/>
          </a:p>
        </p:txBody>
      </p:sp>
      <p:sp>
        <p:nvSpPr>
          <p:cNvPr id="18" name="Text 14"/>
          <p:cNvSpPr/>
          <p:nvPr/>
        </p:nvSpPr>
        <p:spPr>
          <a:xfrm>
            <a:off x="3703320" y="3337560"/>
            <a:ext cx="2240280" cy="365760"/>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Carousels</a:t>
            </a:r>
            <a:endParaRPr lang="en-US" sz="1550" dirty="0"/>
          </a:p>
        </p:txBody>
      </p:sp>
      <p:sp>
        <p:nvSpPr>
          <p:cNvPr id="19" name="Text 15"/>
          <p:cNvSpPr/>
          <p:nvPr/>
        </p:nvSpPr>
        <p:spPr>
          <a:xfrm>
            <a:off x="3703320" y="3703320"/>
            <a:ext cx="2240280" cy="1463040"/>
          </a:xfrm>
          <a:prstGeom prst="rect">
            <a:avLst/>
          </a:prstGeom>
          <a:noFill/>
          <a:ln/>
        </p:spPr>
        <p:txBody>
          <a:bodyPr wrap="square" lIns="0" tIns="0" rIns="0" bIns="0" rtlCol="0" anchor="ctr"/>
          <a:lstStyle/>
          <a:p>
            <a:pPr marL="0" indent="0">
              <a:lnSpc>
                <a:spcPct val="128000"/>
              </a:lnSpc>
              <a:buNone/>
            </a:pPr>
            <a:r>
              <a:rPr lang="en-US" sz="1100" dirty="0">
                <a:solidFill>
                  <a:srgbClr val="3A3A3A"/>
                </a:solidFill>
                <a:latin typeface="Calibri" pitchFamily="34" charset="0"/>
                <a:ea typeface="Calibri" pitchFamily="34" charset="-122"/>
                <a:cs typeface="Calibri" pitchFamily="34" charset="-120"/>
              </a:rPr>
              <a:t>Side-by-side “then &amp; now” panels: the lesson learned vs. how it's done today.</a:t>
            </a:r>
            <a:endParaRPr lang="en-US" sz="1100" dirty="0"/>
          </a:p>
        </p:txBody>
      </p:sp>
      <p:sp>
        <p:nvSpPr>
          <p:cNvPr id="20" name="Shape 16"/>
          <p:cNvSpPr/>
          <p:nvPr/>
        </p:nvSpPr>
        <p:spPr>
          <a:xfrm>
            <a:off x="6400800" y="1691640"/>
            <a:ext cx="2697480" cy="3566160"/>
          </a:xfrm>
          <a:prstGeom prst="roundRect">
            <a:avLst>
              <a:gd name="adj" fmla="val 3390"/>
            </a:avLst>
          </a:prstGeom>
          <a:solidFill>
            <a:srgbClr val="FCE4EC"/>
          </a:solidFill>
          <a:ln/>
        </p:spPr>
      </p:sp>
      <p:sp>
        <p:nvSpPr>
          <p:cNvPr id="21" name="Shape 17"/>
          <p:cNvSpPr/>
          <p:nvPr/>
        </p:nvSpPr>
        <p:spPr>
          <a:xfrm>
            <a:off x="6537960" y="1828800"/>
            <a:ext cx="2423160" cy="1371600"/>
          </a:xfrm>
          <a:prstGeom prst="roundRect">
            <a:avLst>
              <a:gd name="adj" fmla="val 5333"/>
            </a:avLst>
          </a:prstGeom>
          <a:solidFill>
            <a:srgbClr val="FC2779"/>
          </a:solidFill>
          <a:ln/>
        </p:spPr>
      </p:sp>
      <p:sp>
        <p:nvSpPr>
          <p:cNvPr id="22" name="Shape 18"/>
          <p:cNvSpPr/>
          <p:nvPr/>
        </p:nvSpPr>
        <p:spPr>
          <a:xfrm>
            <a:off x="7372350" y="1993392"/>
            <a:ext cx="754380" cy="754380"/>
          </a:xfrm>
          <a:prstGeom prst="ellipse">
            <a:avLst/>
          </a:prstGeom>
          <a:solidFill>
            <a:srgbClr val="FFFFFF">
              <a:alpha val="85000"/>
            </a:srgbClr>
          </a:solidFill>
          <a:ln/>
        </p:spPr>
      </p:sp>
      <p:pic>
        <p:nvPicPr>
          <p:cNvPr id="23" name="Image 2" descr="/home/claude/icons/repeat_white.png"/>
          <p:cNvPicPr>
            <a:picLocks noChangeAspect="1"/>
          </p:cNvPicPr>
          <p:nvPr/>
        </p:nvPicPr>
        <p:blipFill>
          <a:blip r:embed="rId5"/>
          <a:stretch>
            <a:fillRect/>
          </a:stretch>
        </p:blipFill>
        <p:spPr>
          <a:xfrm>
            <a:off x="7542086" y="2163128"/>
            <a:ext cx="414909" cy="414909"/>
          </a:xfrm>
          <a:prstGeom prst="rect">
            <a:avLst/>
          </a:prstGeom>
        </p:spPr>
      </p:pic>
      <p:sp>
        <p:nvSpPr>
          <p:cNvPr id="24" name="Shape 19"/>
          <p:cNvSpPr/>
          <p:nvPr/>
        </p:nvSpPr>
        <p:spPr>
          <a:xfrm>
            <a:off x="6629400" y="2907792"/>
            <a:ext cx="429768" cy="219456"/>
          </a:xfrm>
          <a:prstGeom prst="roundRect">
            <a:avLst>
              <a:gd name="adj" fmla="val 20833"/>
            </a:avLst>
          </a:prstGeom>
          <a:solidFill>
            <a:srgbClr val="1A1A1A">
              <a:alpha val="85000"/>
            </a:srgbClr>
          </a:solidFill>
          <a:ln/>
        </p:spPr>
      </p:sp>
      <p:sp>
        <p:nvSpPr>
          <p:cNvPr id="25" name="Text 20"/>
          <p:cNvSpPr/>
          <p:nvPr/>
        </p:nvSpPr>
        <p:spPr>
          <a:xfrm>
            <a:off x="6629400" y="2898648"/>
            <a:ext cx="4297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UGC</a:t>
            </a:r>
            <a:endParaRPr lang="en-US" sz="800" dirty="0"/>
          </a:p>
        </p:txBody>
      </p:sp>
      <p:sp>
        <p:nvSpPr>
          <p:cNvPr id="26" name="Text 21"/>
          <p:cNvSpPr/>
          <p:nvPr/>
        </p:nvSpPr>
        <p:spPr>
          <a:xfrm>
            <a:off x="6629400" y="3337560"/>
            <a:ext cx="2240280" cy="365760"/>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UGC Chains</a:t>
            </a:r>
            <a:endParaRPr lang="en-US" sz="1550" dirty="0"/>
          </a:p>
        </p:txBody>
      </p:sp>
      <p:sp>
        <p:nvSpPr>
          <p:cNvPr id="27" name="Text 22"/>
          <p:cNvSpPr/>
          <p:nvPr/>
        </p:nvSpPr>
        <p:spPr>
          <a:xfrm>
            <a:off x="6629400" y="3703320"/>
            <a:ext cx="2240280" cy="1463040"/>
          </a:xfrm>
          <a:prstGeom prst="rect">
            <a:avLst/>
          </a:prstGeom>
          <a:noFill/>
          <a:ln/>
        </p:spPr>
        <p:txBody>
          <a:bodyPr wrap="square" lIns="0" tIns="0" rIns="0" bIns="0" rtlCol="0" anchor="ctr"/>
          <a:lstStyle/>
          <a:p>
            <a:pPr marL="0" indent="0">
              <a:lnSpc>
                <a:spcPct val="128000"/>
              </a:lnSpc>
              <a:buNone/>
            </a:pPr>
            <a:r>
              <a:rPr lang="en-US" sz="1100" dirty="0">
                <a:solidFill>
                  <a:srgbClr val="3A3A3A"/>
                </a:solidFill>
                <a:latin typeface="Calibri" pitchFamily="34" charset="0"/>
                <a:ea typeface="Calibri" pitchFamily="34" charset="-122"/>
                <a:cs typeface="Calibri" pitchFamily="34" charset="-120"/>
              </a:rPr>
              <a:t>A trackable hashtag thread where each post visibly links to the one that taught it.</a:t>
            </a:r>
            <a:endParaRPr lang="en-US" sz="1100" dirty="0"/>
          </a:p>
        </p:txBody>
      </p:sp>
      <p:sp>
        <p:nvSpPr>
          <p:cNvPr id="28" name="Shape 23"/>
          <p:cNvSpPr/>
          <p:nvPr/>
        </p:nvSpPr>
        <p:spPr>
          <a:xfrm>
            <a:off x="9326880" y="1691640"/>
            <a:ext cx="2697480" cy="3566160"/>
          </a:xfrm>
          <a:prstGeom prst="roundRect">
            <a:avLst>
              <a:gd name="adj" fmla="val 3390"/>
            </a:avLst>
          </a:prstGeom>
          <a:solidFill>
            <a:srgbClr val="FCE4EC"/>
          </a:solidFill>
          <a:ln/>
        </p:spPr>
      </p:sp>
      <p:sp>
        <p:nvSpPr>
          <p:cNvPr id="29" name="Shape 24"/>
          <p:cNvSpPr/>
          <p:nvPr/>
        </p:nvSpPr>
        <p:spPr>
          <a:xfrm>
            <a:off x="9464040" y="1828800"/>
            <a:ext cx="2423160" cy="1371600"/>
          </a:xfrm>
          <a:prstGeom prst="roundRect">
            <a:avLst>
              <a:gd name="adj" fmla="val 5333"/>
            </a:avLst>
          </a:prstGeom>
          <a:solidFill>
            <a:srgbClr val="1A1A1A"/>
          </a:solidFill>
          <a:ln/>
        </p:spPr>
      </p:sp>
      <p:sp>
        <p:nvSpPr>
          <p:cNvPr id="30" name="Shape 25"/>
          <p:cNvSpPr/>
          <p:nvPr/>
        </p:nvSpPr>
        <p:spPr>
          <a:xfrm>
            <a:off x="10298430" y="1993392"/>
            <a:ext cx="754380" cy="754380"/>
          </a:xfrm>
          <a:prstGeom prst="ellipse">
            <a:avLst/>
          </a:prstGeom>
          <a:solidFill>
            <a:srgbClr val="FFFFFF">
              <a:alpha val="85000"/>
            </a:srgbClr>
          </a:solidFill>
          <a:ln/>
        </p:spPr>
      </p:sp>
      <p:pic>
        <p:nvPicPr>
          <p:cNvPr id="31" name="Image 3" descr="/home/claude/icons/users_white.png"/>
          <p:cNvPicPr>
            <a:picLocks noChangeAspect="1"/>
          </p:cNvPicPr>
          <p:nvPr/>
        </p:nvPicPr>
        <p:blipFill>
          <a:blip r:embed="rId6"/>
          <a:stretch>
            <a:fillRect/>
          </a:stretch>
        </p:blipFill>
        <p:spPr>
          <a:xfrm>
            <a:off x="10468166" y="2163128"/>
            <a:ext cx="414909" cy="414909"/>
          </a:xfrm>
          <a:prstGeom prst="rect">
            <a:avLst/>
          </a:prstGeom>
        </p:spPr>
      </p:pic>
      <p:sp>
        <p:nvSpPr>
          <p:cNvPr id="32" name="Shape 26"/>
          <p:cNvSpPr/>
          <p:nvPr/>
        </p:nvSpPr>
        <p:spPr>
          <a:xfrm>
            <a:off x="9555480" y="2907792"/>
            <a:ext cx="676656" cy="219456"/>
          </a:xfrm>
          <a:prstGeom prst="roundRect">
            <a:avLst>
              <a:gd name="adj" fmla="val 20833"/>
            </a:avLst>
          </a:prstGeom>
          <a:solidFill>
            <a:srgbClr val="1A1A1A">
              <a:alpha val="85000"/>
            </a:srgbClr>
          </a:solidFill>
          <a:ln/>
        </p:spPr>
      </p:sp>
      <p:sp>
        <p:nvSpPr>
          <p:cNvPr id="33" name="Text 27"/>
          <p:cNvSpPr/>
          <p:nvPr/>
        </p:nvSpPr>
        <p:spPr>
          <a:xfrm>
            <a:off x="9555480" y="2898648"/>
            <a:ext cx="676656"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COLLAB</a:t>
            </a:r>
            <a:endParaRPr lang="en-US" sz="800" dirty="0"/>
          </a:p>
        </p:txBody>
      </p:sp>
      <p:sp>
        <p:nvSpPr>
          <p:cNvPr id="34" name="Text 28"/>
          <p:cNvSpPr/>
          <p:nvPr/>
        </p:nvSpPr>
        <p:spPr>
          <a:xfrm>
            <a:off x="9555480" y="3337560"/>
            <a:ext cx="2240280" cy="365760"/>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Creator Collabs</a:t>
            </a:r>
            <a:endParaRPr lang="en-US" sz="1550" dirty="0"/>
          </a:p>
        </p:txBody>
      </p:sp>
      <p:sp>
        <p:nvSpPr>
          <p:cNvPr id="35" name="Text 29"/>
          <p:cNvSpPr/>
          <p:nvPr/>
        </p:nvSpPr>
        <p:spPr>
          <a:xfrm>
            <a:off x="9555480" y="3703320"/>
            <a:ext cx="2240280" cy="1463040"/>
          </a:xfrm>
          <a:prstGeom prst="rect">
            <a:avLst/>
          </a:prstGeom>
          <a:noFill/>
          <a:ln/>
        </p:spPr>
        <p:txBody>
          <a:bodyPr wrap="square" lIns="0" tIns="0" rIns="0" bIns="0" rtlCol="0" anchor="ctr"/>
          <a:lstStyle/>
          <a:p>
            <a:pPr marL="0" indent="0">
              <a:lnSpc>
                <a:spcPct val="128000"/>
              </a:lnSpc>
              <a:buNone/>
            </a:pPr>
            <a:r>
              <a:rPr lang="en-US" sz="1100" dirty="0">
                <a:solidFill>
                  <a:srgbClr val="3A3A3A"/>
                </a:solidFill>
                <a:latin typeface="Calibri" pitchFamily="34" charset="0"/>
                <a:ea typeface="Calibri" pitchFamily="34" charset="-122"/>
                <a:cs typeface="Calibri" pitchFamily="34" charset="-120"/>
              </a:rPr>
              <a:t>Micro-creators pilot the first handoff chains, seeding the mechanic before it opens to all users.</a:t>
            </a:r>
            <a:endParaRPr lang="en-US" sz="1100" dirty="0"/>
          </a:p>
        </p:txBody>
      </p:sp>
      <p:sp>
        <p:nvSpPr>
          <p:cNvPr id="36" name="Text 30"/>
          <p:cNvSpPr/>
          <p:nvPr/>
        </p:nvSpPr>
        <p:spPr>
          <a:xfrm>
            <a:off x="548640" y="5486400"/>
            <a:ext cx="10789920" cy="457200"/>
          </a:xfrm>
          <a:prstGeom prst="rect">
            <a:avLst/>
          </a:prstGeom>
          <a:noFill/>
          <a:ln/>
        </p:spPr>
        <p:txBody>
          <a:bodyPr wrap="square" lIns="0" tIns="0" rIns="0" bIns="0" rtlCol="0" anchor="ctr"/>
          <a:lstStyle/>
          <a:p>
            <a:pPr marL="0" indent="0">
              <a:buNone/>
            </a:pPr>
            <a:r>
              <a:rPr lang="en-US" sz="1250" i="1" dirty="0">
                <a:solidFill>
                  <a:srgbClr val="8C7C82"/>
                </a:solidFill>
                <a:latin typeface="Calibri" pitchFamily="34" charset="0"/>
                <a:ea typeface="Calibri" pitchFamily="34" charset="-122"/>
                <a:cs typeface="Calibri" pitchFamily="34" charset="-120"/>
              </a:rPr>
              <a:t>Sample hook: “My sister taught me this in 2016. Watch me teach it to someone who's never held an eyeliner.”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75720" y="5760720"/>
            <a:ext cx="41148" cy="41148"/>
          </a:xfrm>
          <a:prstGeom prst="ellipse">
            <a:avLst/>
          </a:prstGeom>
          <a:solidFill>
            <a:srgbClr val="FC2779">
              <a:alpha val="45000"/>
            </a:srgbClr>
          </a:solidFill>
          <a:ln/>
        </p:spPr>
      </p:sp>
      <p:sp>
        <p:nvSpPr>
          <p:cNvPr id="3" name="Shape 1"/>
          <p:cNvSpPr/>
          <p:nvPr/>
        </p:nvSpPr>
        <p:spPr>
          <a:xfrm>
            <a:off x="11475720" y="5879592"/>
            <a:ext cx="41148" cy="41148"/>
          </a:xfrm>
          <a:prstGeom prst="ellipse">
            <a:avLst/>
          </a:prstGeom>
          <a:solidFill>
            <a:srgbClr val="FC2779">
              <a:alpha val="45000"/>
            </a:srgbClr>
          </a:solidFill>
          <a:ln/>
        </p:spPr>
      </p:sp>
      <p:sp>
        <p:nvSpPr>
          <p:cNvPr id="4" name="Shape 2"/>
          <p:cNvSpPr/>
          <p:nvPr/>
        </p:nvSpPr>
        <p:spPr>
          <a:xfrm>
            <a:off x="11475720" y="5998464"/>
            <a:ext cx="41148" cy="41148"/>
          </a:xfrm>
          <a:prstGeom prst="ellipse">
            <a:avLst/>
          </a:prstGeom>
          <a:solidFill>
            <a:srgbClr val="FC2779">
              <a:alpha val="45000"/>
            </a:srgbClr>
          </a:solidFill>
          <a:ln/>
        </p:spPr>
      </p:sp>
      <p:sp>
        <p:nvSpPr>
          <p:cNvPr id="5" name="Shape 3"/>
          <p:cNvSpPr/>
          <p:nvPr/>
        </p:nvSpPr>
        <p:spPr>
          <a:xfrm>
            <a:off x="11594592" y="5760720"/>
            <a:ext cx="41148" cy="41148"/>
          </a:xfrm>
          <a:prstGeom prst="ellipse">
            <a:avLst/>
          </a:prstGeom>
          <a:solidFill>
            <a:srgbClr val="FC2779">
              <a:alpha val="45000"/>
            </a:srgbClr>
          </a:solidFill>
          <a:ln/>
        </p:spPr>
      </p:sp>
      <p:sp>
        <p:nvSpPr>
          <p:cNvPr id="6" name="Shape 4"/>
          <p:cNvSpPr/>
          <p:nvPr/>
        </p:nvSpPr>
        <p:spPr>
          <a:xfrm>
            <a:off x="11594592" y="5879592"/>
            <a:ext cx="41148" cy="41148"/>
          </a:xfrm>
          <a:prstGeom prst="ellipse">
            <a:avLst/>
          </a:prstGeom>
          <a:solidFill>
            <a:srgbClr val="FC2779">
              <a:alpha val="45000"/>
            </a:srgbClr>
          </a:solidFill>
          <a:ln/>
        </p:spPr>
      </p:sp>
      <p:sp>
        <p:nvSpPr>
          <p:cNvPr id="7" name="Shape 5"/>
          <p:cNvSpPr/>
          <p:nvPr/>
        </p:nvSpPr>
        <p:spPr>
          <a:xfrm>
            <a:off x="11594592" y="5998464"/>
            <a:ext cx="41148" cy="41148"/>
          </a:xfrm>
          <a:prstGeom prst="ellipse">
            <a:avLst/>
          </a:prstGeom>
          <a:solidFill>
            <a:srgbClr val="FC2779">
              <a:alpha val="45000"/>
            </a:srgbClr>
          </a:solidFill>
          <a:ln/>
        </p:spPr>
      </p:sp>
      <p:sp>
        <p:nvSpPr>
          <p:cNvPr id="8" name="Shape 6"/>
          <p:cNvSpPr/>
          <p:nvPr/>
        </p:nvSpPr>
        <p:spPr>
          <a:xfrm>
            <a:off x="11713464" y="5760720"/>
            <a:ext cx="41148" cy="41148"/>
          </a:xfrm>
          <a:prstGeom prst="ellipse">
            <a:avLst/>
          </a:prstGeom>
          <a:solidFill>
            <a:srgbClr val="FC2779">
              <a:alpha val="45000"/>
            </a:srgbClr>
          </a:solidFill>
          <a:ln/>
        </p:spPr>
      </p:sp>
      <p:sp>
        <p:nvSpPr>
          <p:cNvPr id="9" name="Shape 7"/>
          <p:cNvSpPr/>
          <p:nvPr/>
        </p:nvSpPr>
        <p:spPr>
          <a:xfrm>
            <a:off x="11713464" y="5879592"/>
            <a:ext cx="41148" cy="41148"/>
          </a:xfrm>
          <a:prstGeom prst="ellipse">
            <a:avLst/>
          </a:prstGeom>
          <a:solidFill>
            <a:srgbClr val="FC2779">
              <a:alpha val="45000"/>
            </a:srgbClr>
          </a:solidFill>
          <a:ln/>
        </p:spPr>
      </p:sp>
      <p:sp>
        <p:nvSpPr>
          <p:cNvPr id="10" name="Shape 8"/>
          <p:cNvSpPr/>
          <p:nvPr/>
        </p:nvSpPr>
        <p:spPr>
          <a:xfrm>
            <a:off x="11713464" y="5998464"/>
            <a:ext cx="41148" cy="41148"/>
          </a:xfrm>
          <a:prstGeom prst="ellipse">
            <a:avLst/>
          </a:prstGeom>
          <a:solidFill>
            <a:srgbClr val="FC2779">
              <a:alpha val="45000"/>
            </a:srgbClr>
          </a:solidFill>
          <a:ln/>
        </p:spPr>
      </p:sp>
      <p:sp>
        <p:nvSpPr>
          <p:cNvPr id="11" name="Shape 9"/>
          <p:cNvSpPr/>
          <p:nvPr/>
        </p:nvSpPr>
        <p:spPr>
          <a:xfrm>
            <a:off x="11832336" y="5760720"/>
            <a:ext cx="41148" cy="41148"/>
          </a:xfrm>
          <a:prstGeom prst="ellipse">
            <a:avLst/>
          </a:prstGeom>
          <a:solidFill>
            <a:srgbClr val="FC2779">
              <a:alpha val="45000"/>
            </a:srgbClr>
          </a:solidFill>
          <a:ln/>
        </p:spPr>
      </p:sp>
      <p:sp>
        <p:nvSpPr>
          <p:cNvPr id="12" name="Shape 10"/>
          <p:cNvSpPr/>
          <p:nvPr/>
        </p:nvSpPr>
        <p:spPr>
          <a:xfrm>
            <a:off x="11832336" y="5879592"/>
            <a:ext cx="41148" cy="41148"/>
          </a:xfrm>
          <a:prstGeom prst="ellipse">
            <a:avLst/>
          </a:prstGeom>
          <a:solidFill>
            <a:srgbClr val="FC2779">
              <a:alpha val="45000"/>
            </a:srgbClr>
          </a:solidFill>
          <a:ln/>
        </p:spPr>
      </p:sp>
      <p:sp>
        <p:nvSpPr>
          <p:cNvPr id="13" name="Shape 11"/>
          <p:cNvSpPr/>
          <p:nvPr/>
        </p:nvSpPr>
        <p:spPr>
          <a:xfrm>
            <a:off x="11832336" y="5998464"/>
            <a:ext cx="41148" cy="41148"/>
          </a:xfrm>
          <a:prstGeom prst="ellipse">
            <a:avLst/>
          </a:prstGeom>
          <a:solidFill>
            <a:srgbClr val="FC2779">
              <a:alpha val="45000"/>
            </a:srgbClr>
          </a:solidFill>
          <a:ln/>
        </p:spPr>
      </p:sp>
      <p:sp>
        <p:nvSpPr>
          <p:cNvPr id="14" name="Shape 12"/>
          <p:cNvSpPr/>
          <p:nvPr/>
        </p:nvSpPr>
        <p:spPr>
          <a:xfrm>
            <a:off x="11951208" y="5760720"/>
            <a:ext cx="41148" cy="41148"/>
          </a:xfrm>
          <a:prstGeom prst="ellipse">
            <a:avLst/>
          </a:prstGeom>
          <a:solidFill>
            <a:srgbClr val="FC2779">
              <a:alpha val="45000"/>
            </a:srgbClr>
          </a:solidFill>
          <a:ln/>
        </p:spPr>
      </p:sp>
      <p:sp>
        <p:nvSpPr>
          <p:cNvPr id="15" name="Shape 13"/>
          <p:cNvSpPr/>
          <p:nvPr/>
        </p:nvSpPr>
        <p:spPr>
          <a:xfrm>
            <a:off x="11951208" y="5879592"/>
            <a:ext cx="41148" cy="41148"/>
          </a:xfrm>
          <a:prstGeom prst="ellipse">
            <a:avLst/>
          </a:prstGeom>
          <a:solidFill>
            <a:srgbClr val="FC2779">
              <a:alpha val="45000"/>
            </a:srgbClr>
          </a:solidFill>
          <a:ln/>
        </p:spPr>
      </p:sp>
      <p:sp>
        <p:nvSpPr>
          <p:cNvPr id="16" name="Shape 14"/>
          <p:cNvSpPr/>
          <p:nvPr/>
        </p:nvSpPr>
        <p:spPr>
          <a:xfrm>
            <a:off x="11951208" y="5998464"/>
            <a:ext cx="41148" cy="41148"/>
          </a:xfrm>
          <a:prstGeom prst="ellipse">
            <a:avLst/>
          </a:prstGeom>
          <a:solidFill>
            <a:srgbClr val="FC2779">
              <a:alpha val="45000"/>
            </a:srgbClr>
          </a:solidFill>
          <a:ln/>
        </p:spPr>
      </p:sp>
      <p:sp>
        <p:nvSpPr>
          <p:cNvPr id="17" name="Text 15"/>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300" dirty="0">
                <a:solidFill>
                  <a:srgbClr val="FC2779"/>
                </a:solidFill>
                <a:latin typeface="Calibri" pitchFamily="34" charset="0"/>
                <a:ea typeface="Calibri" pitchFamily="34" charset="-122"/>
                <a:cs typeface="Calibri" pitchFamily="34" charset="-120"/>
              </a:rPr>
              <a:t>ROLLOUT PLAN &amp; KPIs</a:t>
            </a:r>
            <a:endParaRPr lang="en-US" sz="1300" dirty="0"/>
          </a:p>
        </p:txBody>
      </p:sp>
      <p:sp>
        <p:nvSpPr>
          <p:cNvPr id="18" name="Text 16"/>
          <p:cNvSpPr/>
          <p:nvPr/>
        </p:nvSpPr>
        <p:spPr>
          <a:xfrm>
            <a:off x="548640" y="868680"/>
            <a:ext cx="10058400" cy="548640"/>
          </a:xfrm>
          <a:prstGeom prst="rect">
            <a:avLst/>
          </a:prstGeom>
          <a:noFill/>
          <a:ln/>
        </p:spPr>
        <p:txBody>
          <a:bodyPr wrap="square" lIns="0" tIns="0" rIns="0" bIns="0" rtlCol="0" anchor="ctr"/>
          <a:lstStyle/>
          <a:p>
            <a:pPr marL="0" indent="0">
              <a:buNone/>
            </a:pPr>
            <a:r>
              <a:rPr lang="en-US" sz="2400" b="1" dirty="0">
                <a:solidFill>
                  <a:srgbClr val="1A1A1A"/>
                </a:solidFill>
                <a:latin typeface="Cambria" pitchFamily="34" charset="0"/>
                <a:ea typeface="Cambria" pitchFamily="34" charset="-122"/>
                <a:cs typeface="Cambria" pitchFamily="34" charset="-120"/>
              </a:rPr>
              <a:t>A phased handoff, not a single launch moment</a:t>
            </a:r>
            <a:endParaRPr lang="en-US" sz="2400" dirty="0"/>
          </a:p>
        </p:txBody>
      </p:sp>
      <p:sp>
        <p:nvSpPr>
          <p:cNvPr id="19" name="Shape 17"/>
          <p:cNvSpPr/>
          <p:nvPr/>
        </p:nvSpPr>
        <p:spPr>
          <a:xfrm>
            <a:off x="548640" y="1691640"/>
            <a:ext cx="3429000" cy="1874520"/>
          </a:xfrm>
          <a:prstGeom prst="roundRect">
            <a:avLst>
              <a:gd name="adj" fmla="val 4878"/>
            </a:avLst>
          </a:prstGeom>
          <a:solidFill>
            <a:srgbClr val="FCE4EC"/>
          </a:solidFill>
          <a:ln/>
        </p:spPr>
      </p:sp>
      <p:sp>
        <p:nvSpPr>
          <p:cNvPr id="20" name="Shape 18"/>
          <p:cNvSpPr/>
          <p:nvPr/>
        </p:nvSpPr>
        <p:spPr>
          <a:xfrm>
            <a:off x="822960" y="1965960"/>
            <a:ext cx="457200" cy="457200"/>
          </a:xfrm>
          <a:prstGeom prst="ellipse">
            <a:avLst/>
          </a:prstGeom>
          <a:solidFill>
            <a:srgbClr val="FC2779"/>
          </a:solidFill>
          <a:ln/>
        </p:spPr>
      </p:sp>
      <p:pic>
        <p:nvPicPr>
          <p:cNvPr id="21" name="Image 0" descr="/home/claude/icons/users_white.png"/>
          <p:cNvPicPr>
            <a:picLocks noChangeAspect="1"/>
          </p:cNvPicPr>
          <p:nvPr/>
        </p:nvPicPr>
        <p:blipFill>
          <a:blip r:embed="rId3"/>
          <a:stretch>
            <a:fillRect/>
          </a:stretch>
        </p:blipFill>
        <p:spPr>
          <a:xfrm>
            <a:off x="886968" y="2029968"/>
            <a:ext cx="329184" cy="329184"/>
          </a:xfrm>
          <a:prstGeom prst="rect">
            <a:avLst/>
          </a:prstGeom>
        </p:spPr>
      </p:pic>
      <p:sp>
        <p:nvSpPr>
          <p:cNvPr id="22" name="Text 19"/>
          <p:cNvSpPr/>
          <p:nvPr/>
        </p:nvSpPr>
        <p:spPr>
          <a:xfrm>
            <a:off x="822960" y="2560320"/>
            <a:ext cx="2880360" cy="320040"/>
          </a:xfrm>
          <a:prstGeom prst="rect">
            <a:avLst/>
          </a:prstGeom>
          <a:noFill/>
          <a:ln/>
        </p:spPr>
        <p:txBody>
          <a:bodyPr wrap="square" lIns="0" tIns="0" rIns="0" bIns="0" rtlCol="0" anchor="ctr"/>
          <a:lstStyle/>
          <a:p>
            <a:pPr marL="0" indent="0">
              <a:buNone/>
            </a:pPr>
            <a:r>
              <a:rPr lang="en-US" sz="1450" b="1" dirty="0">
                <a:solidFill>
                  <a:srgbClr val="1A1A1A"/>
                </a:solidFill>
                <a:latin typeface="Cambria" pitchFamily="34" charset="0"/>
                <a:ea typeface="Cambria" pitchFamily="34" charset="-122"/>
                <a:cs typeface="Cambria" pitchFamily="34" charset="-120"/>
              </a:rPr>
              <a:t>Phase 1 · Seed</a:t>
            </a:r>
            <a:endParaRPr lang="en-US" sz="1450" dirty="0"/>
          </a:p>
        </p:txBody>
      </p:sp>
      <p:sp>
        <p:nvSpPr>
          <p:cNvPr id="23" name="Text 20"/>
          <p:cNvSpPr/>
          <p:nvPr/>
        </p:nvSpPr>
        <p:spPr>
          <a:xfrm>
            <a:off x="822960" y="2880360"/>
            <a:ext cx="2880360" cy="594360"/>
          </a:xfrm>
          <a:prstGeom prst="rect">
            <a:avLst/>
          </a:prstGeom>
          <a:noFill/>
          <a:ln/>
        </p:spPr>
        <p:txBody>
          <a:bodyPr wrap="square" lIns="0" tIns="0" rIns="0" bIns="0" rtlCol="0" anchor="ctr"/>
          <a:lstStyle/>
          <a:p>
            <a:pPr marL="0" indent="0">
              <a:lnSpc>
                <a:spcPct val="125000"/>
              </a:lnSpc>
              <a:buNone/>
            </a:pPr>
            <a:r>
              <a:rPr lang="en-US" sz="1150" dirty="0">
                <a:solidFill>
                  <a:srgbClr val="3A3A3A"/>
                </a:solidFill>
                <a:latin typeface="Calibri" pitchFamily="34" charset="0"/>
                <a:ea typeface="Calibri" pitchFamily="34" charset="-122"/>
                <a:cs typeface="Calibri" pitchFamily="34" charset="-120"/>
              </a:rPr>
              <a:t>Micro-creators launch the first handoff chains inside Nykaa Network and Instagram.</a:t>
            </a:r>
            <a:endParaRPr lang="en-US" sz="1150" dirty="0"/>
          </a:p>
        </p:txBody>
      </p:sp>
      <p:sp>
        <p:nvSpPr>
          <p:cNvPr id="24" name="Shape 21"/>
          <p:cNvSpPr/>
          <p:nvPr/>
        </p:nvSpPr>
        <p:spPr>
          <a:xfrm>
            <a:off x="4023360" y="2606040"/>
            <a:ext cx="320040" cy="0"/>
          </a:xfrm>
          <a:prstGeom prst="line">
            <a:avLst/>
          </a:prstGeom>
          <a:noFill/>
          <a:ln w="25400">
            <a:solidFill>
              <a:srgbClr val="FC2779"/>
            </a:solidFill>
            <a:prstDash val="solid"/>
          </a:ln>
        </p:spPr>
      </p:sp>
      <p:sp>
        <p:nvSpPr>
          <p:cNvPr id="25" name="Shape 22"/>
          <p:cNvSpPr/>
          <p:nvPr/>
        </p:nvSpPr>
        <p:spPr>
          <a:xfrm>
            <a:off x="4343400" y="1691640"/>
            <a:ext cx="3429000" cy="1874520"/>
          </a:xfrm>
          <a:prstGeom prst="roundRect">
            <a:avLst>
              <a:gd name="adj" fmla="val 4878"/>
            </a:avLst>
          </a:prstGeom>
          <a:solidFill>
            <a:srgbClr val="FCE4EC"/>
          </a:solidFill>
          <a:ln/>
        </p:spPr>
      </p:sp>
      <p:sp>
        <p:nvSpPr>
          <p:cNvPr id="26" name="Shape 23"/>
          <p:cNvSpPr/>
          <p:nvPr/>
        </p:nvSpPr>
        <p:spPr>
          <a:xfrm>
            <a:off x="4617720" y="1965960"/>
            <a:ext cx="457200" cy="457200"/>
          </a:xfrm>
          <a:prstGeom prst="ellipse">
            <a:avLst/>
          </a:prstGeom>
          <a:solidFill>
            <a:srgbClr val="FC2779"/>
          </a:solidFill>
          <a:ln/>
        </p:spPr>
      </p:sp>
      <p:pic>
        <p:nvPicPr>
          <p:cNvPr id="27" name="Image 1" descr="/home/claude/icons/share_white.png"/>
          <p:cNvPicPr>
            <a:picLocks noChangeAspect="1"/>
          </p:cNvPicPr>
          <p:nvPr/>
        </p:nvPicPr>
        <p:blipFill>
          <a:blip r:embed="rId4"/>
          <a:stretch>
            <a:fillRect/>
          </a:stretch>
        </p:blipFill>
        <p:spPr>
          <a:xfrm>
            <a:off x="4681728" y="2029968"/>
            <a:ext cx="329184" cy="329184"/>
          </a:xfrm>
          <a:prstGeom prst="rect">
            <a:avLst/>
          </a:prstGeom>
        </p:spPr>
      </p:pic>
      <p:sp>
        <p:nvSpPr>
          <p:cNvPr id="28" name="Text 24"/>
          <p:cNvSpPr/>
          <p:nvPr/>
        </p:nvSpPr>
        <p:spPr>
          <a:xfrm>
            <a:off x="4617720" y="2560320"/>
            <a:ext cx="2880360" cy="320040"/>
          </a:xfrm>
          <a:prstGeom prst="rect">
            <a:avLst/>
          </a:prstGeom>
          <a:noFill/>
          <a:ln/>
        </p:spPr>
        <p:txBody>
          <a:bodyPr wrap="square" lIns="0" tIns="0" rIns="0" bIns="0" rtlCol="0" anchor="ctr"/>
          <a:lstStyle/>
          <a:p>
            <a:pPr marL="0" indent="0">
              <a:buNone/>
            </a:pPr>
            <a:r>
              <a:rPr lang="en-US" sz="1450" b="1" dirty="0">
                <a:solidFill>
                  <a:srgbClr val="1A1A1A"/>
                </a:solidFill>
                <a:latin typeface="Cambria" pitchFamily="34" charset="0"/>
                <a:ea typeface="Cambria" pitchFamily="34" charset="-122"/>
                <a:cs typeface="Cambria" pitchFamily="34" charset="-120"/>
              </a:rPr>
              <a:t>Phase 2 · Open</a:t>
            </a:r>
            <a:endParaRPr lang="en-US" sz="1450" dirty="0"/>
          </a:p>
        </p:txBody>
      </p:sp>
      <p:sp>
        <p:nvSpPr>
          <p:cNvPr id="29" name="Text 25"/>
          <p:cNvSpPr/>
          <p:nvPr/>
        </p:nvSpPr>
        <p:spPr>
          <a:xfrm>
            <a:off x="4617720" y="2880360"/>
            <a:ext cx="2880360" cy="594360"/>
          </a:xfrm>
          <a:prstGeom prst="rect">
            <a:avLst/>
          </a:prstGeom>
          <a:noFill/>
          <a:ln/>
        </p:spPr>
        <p:txBody>
          <a:bodyPr wrap="square" lIns="0" tIns="0" rIns="0" bIns="0" rtlCol="0" anchor="ctr"/>
          <a:lstStyle/>
          <a:p>
            <a:pPr marL="0" indent="0">
              <a:lnSpc>
                <a:spcPct val="125000"/>
              </a:lnSpc>
              <a:buNone/>
            </a:pPr>
            <a:r>
              <a:rPr lang="en-US" sz="1150" dirty="0">
                <a:solidFill>
                  <a:srgbClr val="3A3A3A"/>
                </a:solidFill>
                <a:latin typeface="Calibri" pitchFamily="34" charset="0"/>
                <a:ea typeface="Calibri" pitchFamily="34" charset="-122"/>
                <a:cs typeface="Calibri" pitchFamily="34" charset="-120"/>
              </a:rPr>
              <a:t>The challenge opens to all users; UGC hashtag chain goes live and trackable.</a:t>
            </a:r>
            <a:endParaRPr lang="en-US" sz="1150" dirty="0"/>
          </a:p>
        </p:txBody>
      </p:sp>
      <p:sp>
        <p:nvSpPr>
          <p:cNvPr id="30" name="Shape 26"/>
          <p:cNvSpPr/>
          <p:nvPr/>
        </p:nvSpPr>
        <p:spPr>
          <a:xfrm>
            <a:off x="7818120" y="2606040"/>
            <a:ext cx="320040" cy="0"/>
          </a:xfrm>
          <a:prstGeom prst="line">
            <a:avLst/>
          </a:prstGeom>
          <a:noFill/>
          <a:ln w="25400">
            <a:solidFill>
              <a:srgbClr val="FC2779"/>
            </a:solidFill>
            <a:prstDash val="solid"/>
          </a:ln>
        </p:spPr>
      </p:sp>
      <p:sp>
        <p:nvSpPr>
          <p:cNvPr id="31" name="Shape 27"/>
          <p:cNvSpPr/>
          <p:nvPr/>
        </p:nvSpPr>
        <p:spPr>
          <a:xfrm>
            <a:off x="8138160" y="1691640"/>
            <a:ext cx="3429000" cy="1874520"/>
          </a:xfrm>
          <a:prstGeom prst="roundRect">
            <a:avLst>
              <a:gd name="adj" fmla="val 4878"/>
            </a:avLst>
          </a:prstGeom>
          <a:solidFill>
            <a:srgbClr val="FCE4EC"/>
          </a:solidFill>
          <a:ln/>
        </p:spPr>
      </p:sp>
      <p:sp>
        <p:nvSpPr>
          <p:cNvPr id="32" name="Shape 28"/>
          <p:cNvSpPr/>
          <p:nvPr/>
        </p:nvSpPr>
        <p:spPr>
          <a:xfrm>
            <a:off x="8412480" y="1965960"/>
            <a:ext cx="457200" cy="457200"/>
          </a:xfrm>
          <a:prstGeom prst="ellipse">
            <a:avLst/>
          </a:prstGeom>
          <a:solidFill>
            <a:srgbClr val="FC2779"/>
          </a:solidFill>
          <a:ln/>
        </p:spPr>
      </p:sp>
      <p:pic>
        <p:nvPicPr>
          <p:cNvPr id="33" name="Image 2" descr="/home/claude/icons/trending_white.png"/>
          <p:cNvPicPr>
            <a:picLocks noChangeAspect="1"/>
          </p:cNvPicPr>
          <p:nvPr/>
        </p:nvPicPr>
        <p:blipFill>
          <a:blip r:embed="rId5"/>
          <a:stretch>
            <a:fillRect/>
          </a:stretch>
        </p:blipFill>
        <p:spPr>
          <a:xfrm>
            <a:off x="8476488" y="2029968"/>
            <a:ext cx="329184" cy="329184"/>
          </a:xfrm>
          <a:prstGeom prst="rect">
            <a:avLst/>
          </a:prstGeom>
        </p:spPr>
      </p:pic>
      <p:sp>
        <p:nvSpPr>
          <p:cNvPr id="34" name="Text 29"/>
          <p:cNvSpPr/>
          <p:nvPr/>
        </p:nvSpPr>
        <p:spPr>
          <a:xfrm>
            <a:off x="8412480" y="2560320"/>
            <a:ext cx="2880360" cy="320040"/>
          </a:xfrm>
          <a:prstGeom prst="rect">
            <a:avLst/>
          </a:prstGeom>
          <a:noFill/>
          <a:ln/>
        </p:spPr>
        <p:txBody>
          <a:bodyPr wrap="square" lIns="0" tIns="0" rIns="0" bIns="0" rtlCol="0" anchor="ctr"/>
          <a:lstStyle/>
          <a:p>
            <a:pPr marL="0" indent="0">
              <a:buNone/>
            </a:pPr>
            <a:r>
              <a:rPr lang="en-US" sz="1450" b="1" dirty="0">
                <a:solidFill>
                  <a:srgbClr val="1A1A1A"/>
                </a:solidFill>
                <a:latin typeface="Cambria" pitchFamily="34" charset="0"/>
                <a:ea typeface="Cambria" pitchFamily="34" charset="-122"/>
                <a:cs typeface="Cambria" pitchFamily="34" charset="-120"/>
              </a:rPr>
              <a:t>Phase 3 · Sustain</a:t>
            </a:r>
            <a:endParaRPr lang="en-US" sz="1450" dirty="0"/>
          </a:p>
        </p:txBody>
      </p:sp>
      <p:sp>
        <p:nvSpPr>
          <p:cNvPr id="35" name="Text 30"/>
          <p:cNvSpPr/>
          <p:nvPr/>
        </p:nvSpPr>
        <p:spPr>
          <a:xfrm>
            <a:off x="8412480" y="2880360"/>
            <a:ext cx="2880360" cy="594360"/>
          </a:xfrm>
          <a:prstGeom prst="rect">
            <a:avLst/>
          </a:prstGeom>
          <a:noFill/>
          <a:ln/>
        </p:spPr>
        <p:txBody>
          <a:bodyPr wrap="square" lIns="0" tIns="0" rIns="0" bIns="0" rtlCol="0" anchor="ctr"/>
          <a:lstStyle/>
          <a:p>
            <a:pPr marL="0" indent="0">
              <a:lnSpc>
                <a:spcPct val="125000"/>
              </a:lnSpc>
              <a:buNone/>
            </a:pPr>
            <a:r>
              <a:rPr lang="en-US" sz="1150" dirty="0">
                <a:solidFill>
                  <a:srgbClr val="3A3A3A"/>
                </a:solidFill>
                <a:latin typeface="Calibri" pitchFamily="34" charset="0"/>
                <a:ea typeface="Calibri" pitchFamily="34" charset="-122"/>
                <a:cs typeface="Calibri" pitchFamily="34" charset="-120"/>
              </a:rPr>
              <a:t>Recurring monthly “handoff” spotlights keep the chain visibly growing over time.</a:t>
            </a:r>
            <a:endParaRPr lang="en-US" sz="1150" dirty="0"/>
          </a:p>
        </p:txBody>
      </p:sp>
      <p:sp>
        <p:nvSpPr>
          <p:cNvPr id="36" name="Text 31"/>
          <p:cNvSpPr/>
          <p:nvPr/>
        </p:nvSpPr>
        <p:spPr>
          <a:xfrm>
            <a:off x="548640" y="3977640"/>
            <a:ext cx="5486400" cy="320040"/>
          </a:xfrm>
          <a:prstGeom prst="rect">
            <a:avLst/>
          </a:prstGeom>
          <a:noFill/>
          <a:ln/>
        </p:spPr>
        <p:txBody>
          <a:bodyPr wrap="square" lIns="0" tIns="0" rIns="0" bIns="0" rtlCol="0" anchor="ctr"/>
          <a:lstStyle/>
          <a:p>
            <a:pPr marL="0" indent="0">
              <a:buNone/>
            </a:pPr>
            <a:r>
              <a:rPr lang="en-US" sz="1200" b="1" kern="0" spc="200" dirty="0">
                <a:solidFill>
                  <a:srgbClr val="FC2779"/>
                </a:solidFill>
                <a:latin typeface="Calibri" pitchFamily="34" charset="0"/>
                <a:ea typeface="Calibri" pitchFamily="34" charset="-122"/>
                <a:cs typeface="Calibri" pitchFamily="34" charset="-120"/>
              </a:rPr>
              <a:t>KEY METRICS</a:t>
            </a:r>
            <a:endParaRPr lang="en-US" sz="1200" dirty="0"/>
          </a:p>
        </p:txBody>
      </p:sp>
      <p:sp>
        <p:nvSpPr>
          <p:cNvPr id="37" name="Shape 32"/>
          <p:cNvSpPr/>
          <p:nvPr/>
        </p:nvSpPr>
        <p:spPr>
          <a:xfrm>
            <a:off x="548640" y="4443984"/>
            <a:ext cx="109728" cy="109728"/>
          </a:xfrm>
          <a:prstGeom prst="ellipse">
            <a:avLst/>
          </a:prstGeom>
          <a:solidFill>
            <a:srgbClr val="FC2779"/>
          </a:solidFill>
          <a:ln/>
        </p:spPr>
      </p:sp>
      <p:sp>
        <p:nvSpPr>
          <p:cNvPr id="38" name="Text 33"/>
          <p:cNvSpPr/>
          <p:nvPr/>
        </p:nvSpPr>
        <p:spPr>
          <a:xfrm>
            <a:off x="804672" y="4315968"/>
            <a:ext cx="5029200" cy="274320"/>
          </a:xfrm>
          <a:prstGeom prst="rect">
            <a:avLst/>
          </a:prstGeom>
          <a:noFill/>
          <a:ln/>
        </p:spPr>
        <p:txBody>
          <a:bodyPr wrap="square" lIns="0" tIns="0" rIns="0" bIns="0" rtlCol="0" anchor="ctr"/>
          <a:lstStyle/>
          <a:p>
            <a:pPr marL="0" indent="0">
              <a:buNone/>
            </a:pPr>
            <a:r>
              <a:rPr lang="en-US" sz="1250" b="1" dirty="0">
                <a:solidFill>
                  <a:srgbClr val="1A1A1A"/>
                </a:solidFill>
                <a:latin typeface="Cambria" pitchFamily="34" charset="0"/>
                <a:ea typeface="Cambria" pitchFamily="34" charset="-122"/>
                <a:cs typeface="Cambria" pitchFamily="34" charset="-120"/>
              </a:rPr>
              <a:t>Handoff Chains Started</a:t>
            </a:r>
            <a:endParaRPr lang="en-US" sz="1250" dirty="0"/>
          </a:p>
        </p:txBody>
      </p:sp>
      <p:sp>
        <p:nvSpPr>
          <p:cNvPr id="39" name="Text 34"/>
          <p:cNvSpPr/>
          <p:nvPr/>
        </p:nvSpPr>
        <p:spPr>
          <a:xfrm>
            <a:off x="804672" y="4590288"/>
            <a:ext cx="5029200" cy="320040"/>
          </a:xfrm>
          <a:prstGeom prst="rect">
            <a:avLst/>
          </a:prstGeom>
          <a:noFill/>
          <a:ln/>
        </p:spPr>
        <p:txBody>
          <a:bodyPr wrap="square" lIns="0" tIns="0" rIns="0" bIns="0" rtlCol="0" anchor="ctr"/>
          <a:lstStyle/>
          <a:p>
            <a:pPr marL="0" indent="0">
              <a:buNone/>
            </a:pPr>
            <a:r>
              <a:rPr lang="en-US" sz="1050" dirty="0">
                <a:solidFill>
                  <a:srgbClr val="8C7C82"/>
                </a:solidFill>
                <a:latin typeface="Calibri" pitchFamily="34" charset="0"/>
                <a:ea typeface="Calibri" pitchFamily="34" charset="-122"/>
                <a:cs typeface="Calibri" pitchFamily="34" charset="-120"/>
              </a:rPr>
              <a:t>Volume of tagged “teacher → student” posts</a:t>
            </a:r>
            <a:endParaRPr lang="en-US" sz="1050" dirty="0"/>
          </a:p>
        </p:txBody>
      </p:sp>
      <p:sp>
        <p:nvSpPr>
          <p:cNvPr id="40" name="Shape 35"/>
          <p:cNvSpPr/>
          <p:nvPr/>
        </p:nvSpPr>
        <p:spPr>
          <a:xfrm>
            <a:off x="6217920" y="4443984"/>
            <a:ext cx="109728" cy="109728"/>
          </a:xfrm>
          <a:prstGeom prst="ellipse">
            <a:avLst/>
          </a:prstGeom>
          <a:solidFill>
            <a:srgbClr val="FC2779"/>
          </a:solidFill>
          <a:ln/>
        </p:spPr>
      </p:sp>
      <p:sp>
        <p:nvSpPr>
          <p:cNvPr id="41" name="Text 36"/>
          <p:cNvSpPr/>
          <p:nvPr/>
        </p:nvSpPr>
        <p:spPr>
          <a:xfrm>
            <a:off x="6473952" y="4315968"/>
            <a:ext cx="5029200" cy="274320"/>
          </a:xfrm>
          <a:prstGeom prst="rect">
            <a:avLst/>
          </a:prstGeom>
          <a:noFill/>
          <a:ln/>
        </p:spPr>
        <p:txBody>
          <a:bodyPr wrap="square" lIns="0" tIns="0" rIns="0" bIns="0" rtlCol="0" anchor="ctr"/>
          <a:lstStyle/>
          <a:p>
            <a:pPr marL="0" indent="0">
              <a:buNone/>
            </a:pPr>
            <a:r>
              <a:rPr lang="en-US" sz="1250" b="1" dirty="0">
                <a:solidFill>
                  <a:srgbClr val="1A1A1A"/>
                </a:solidFill>
                <a:latin typeface="Cambria" pitchFamily="34" charset="0"/>
                <a:ea typeface="Cambria" pitchFamily="34" charset="-122"/>
                <a:cs typeface="Cambria" pitchFamily="34" charset="-120"/>
              </a:rPr>
              <a:t>Chain Depth</a:t>
            </a:r>
            <a:endParaRPr lang="en-US" sz="1250" dirty="0"/>
          </a:p>
        </p:txBody>
      </p:sp>
      <p:sp>
        <p:nvSpPr>
          <p:cNvPr id="42" name="Text 37"/>
          <p:cNvSpPr/>
          <p:nvPr/>
        </p:nvSpPr>
        <p:spPr>
          <a:xfrm>
            <a:off x="6473952" y="4590288"/>
            <a:ext cx="5029200" cy="320040"/>
          </a:xfrm>
          <a:prstGeom prst="rect">
            <a:avLst/>
          </a:prstGeom>
          <a:noFill/>
          <a:ln/>
        </p:spPr>
        <p:txBody>
          <a:bodyPr wrap="square" lIns="0" tIns="0" rIns="0" bIns="0" rtlCol="0" anchor="ctr"/>
          <a:lstStyle/>
          <a:p>
            <a:pPr marL="0" indent="0">
              <a:buNone/>
            </a:pPr>
            <a:r>
              <a:rPr lang="en-US" sz="1050" dirty="0">
                <a:solidFill>
                  <a:srgbClr val="8C7C82"/>
                </a:solidFill>
                <a:latin typeface="Calibri" pitchFamily="34" charset="0"/>
                <a:ea typeface="Calibri" pitchFamily="34" charset="-122"/>
                <a:cs typeface="Calibri" pitchFamily="34" charset="-120"/>
              </a:rPr>
              <a:t>Average number of hops per handoff thread</a:t>
            </a:r>
            <a:endParaRPr lang="en-US" sz="1050" dirty="0"/>
          </a:p>
        </p:txBody>
      </p:sp>
      <p:sp>
        <p:nvSpPr>
          <p:cNvPr id="43" name="Shape 38"/>
          <p:cNvSpPr/>
          <p:nvPr/>
        </p:nvSpPr>
        <p:spPr>
          <a:xfrm>
            <a:off x="548640" y="5221224"/>
            <a:ext cx="109728" cy="109728"/>
          </a:xfrm>
          <a:prstGeom prst="ellipse">
            <a:avLst/>
          </a:prstGeom>
          <a:solidFill>
            <a:srgbClr val="FC2779"/>
          </a:solidFill>
          <a:ln/>
        </p:spPr>
      </p:sp>
      <p:sp>
        <p:nvSpPr>
          <p:cNvPr id="44" name="Text 39"/>
          <p:cNvSpPr/>
          <p:nvPr/>
        </p:nvSpPr>
        <p:spPr>
          <a:xfrm>
            <a:off x="804672" y="5093208"/>
            <a:ext cx="5029200" cy="274320"/>
          </a:xfrm>
          <a:prstGeom prst="rect">
            <a:avLst/>
          </a:prstGeom>
          <a:noFill/>
          <a:ln/>
        </p:spPr>
        <p:txBody>
          <a:bodyPr wrap="square" lIns="0" tIns="0" rIns="0" bIns="0" rtlCol="0" anchor="ctr"/>
          <a:lstStyle/>
          <a:p>
            <a:pPr marL="0" indent="0">
              <a:buNone/>
            </a:pPr>
            <a:r>
              <a:rPr lang="en-US" sz="1250" b="1" dirty="0">
                <a:solidFill>
                  <a:srgbClr val="1A1A1A"/>
                </a:solidFill>
                <a:latin typeface="Cambria" pitchFamily="34" charset="0"/>
                <a:ea typeface="Cambria" pitchFamily="34" charset="-122"/>
                <a:cs typeface="Cambria" pitchFamily="34" charset="-120"/>
              </a:rPr>
              <a:t>Save-to-View Ratio</a:t>
            </a:r>
            <a:endParaRPr lang="en-US" sz="1250" dirty="0"/>
          </a:p>
        </p:txBody>
      </p:sp>
      <p:sp>
        <p:nvSpPr>
          <p:cNvPr id="45" name="Text 40"/>
          <p:cNvSpPr/>
          <p:nvPr/>
        </p:nvSpPr>
        <p:spPr>
          <a:xfrm>
            <a:off x="804672" y="5367528"/>
            <a:ext cx="5029200" cy="320040"/>
          </a:xfrm>
          <a:prstGeom prst="rect">
            <a:avLst/>
          </a:prstGeom>
          <a:noFill/>
          <a:ln/>
        </p:spPr>
        <p:txBody>
          <a:bodyPr wrap="square" lIns="0" tIns="0" rIns="0" bIns="0" rtlCol="0" anchor="ctr"/>
          <a:lstStyle/>
          <a:p>
            <a:pPr marL="0" indent="0">
              <a:buNone/>
            </a:pPr>
            <a:r>
              <a:rPr lang="en-US" sz="1050" dirty="0">
                <a:solidFill>
                  <a:srgbClr val="8C7C82"/>
                </a:solidFill>
                <a:latin typeface="Calibri" pitchFamily="34" charset="0"/>
                <a:ea typeface="Calibri" pitchFamily="34" charset="-122"/>
                <a:cs typeface="Calibri" pitchFamily="34" charset="-120"/>
              </a:rPr>
              <a:t>Signals content is being kept to re-teach, not just watched</a:t>
            </a:r>
            <a:endParaRPr lang="en-US" sz="1050" dirty="0"/>
          </a:p>
        </p:txBody>
      </p:sp>
      <p:sp>
        <p:nvSpPr>
          <p:cNvPr id="46" name="Shape 41"/>
          <p:cNvSpPr/>
          <p:nvPr/>
        </p:nvSpPr>
        <p:spPr>
          <a:xfrm>
            <a:off x="6217920" y="5221224"/>
            <a:ext cx="109728" cy="109728"/>
          </a:xfrm>
          <a:prstGeom prst="ellipse">
            <a:avLst/>
          </a:prstGeom>
          <a:solidFill>
            <a:srgbClr val="FC2779"/>
          </a:solidFill>
          <a:ln/>
        </p:spPr>
      </p:sp>
      <p:sp>
        <p:nvSpPr>
          <p:cNvPr id="47" name="Text 42"/>
          <p:cNvSpPr/>
          <p:nvPr/>
        </p:nvSpPr>
        <p:spPr>
          <a:xfrm>
            <a:off x="6473952" y="5093208"/>
            <a:ext cx="5029200" cy="274320"/>
          </a:xfrm>
          <a:prstGeom prst="rect">
            <a:avLst/>
          </a:prstGeom>
          <a:noFill/>
          <a:ln/>
        </p:spPr>
        <p:txBody>
          <a:bodyPr wrap="square" lIns="0" tIns="0" rIns="0" bIns="0" rtlCol="0" anchor="ctr"/>
          <a:lstStyle/>
          <a:p>
            <a:pPr marL="0" indent="0">
              <a:buNone/>
            </a:pPr>
            <a:r>
              <a:rPr lang="en-US" sz="1250" b="1" dirty="0">
                <a:solidFill>
                  <a:srgbClr val="1A1A1A"/>
                </a:solidFill>
                <a:latin typeface="Cambria" pitchFamily="34" charset="0"/>
                <a:ea typeface="Cambria" pitchFamily="34" charset="-122"/>
                <a:cs typeface="Cambria" pitchFamily="34" charset="-120"/>
              </a:rPr>
              <a:t>Creator-to-Community Spread</a:t>
            </a:r>
            <a:endParaRPr lang="en-US" sz="1250" dirty="0"/>
          </a:p>
        </p:txBody>
      </p:sp>
      <p:sp>
        <p:nvSpPr>
          <p:cNvPr id="48" name="Text 43"/>
          <p:cNvSpPr/>
          <p:nvPr/>
        </p:nvSpPr>
        <p:spPr>
          <a:xfrm>
            <a:off x="6473952" y="5367528"/>
            <a:ext cx="5029200" cy="320040"/>
          </a:xfrm>
          <a:prstGeom prst="rect">
            <a:avLst/>
          </a:prstGeom>
          <a:noFill/>
          <a:ln/>
        </p:spPr>
        <p:txBody>
          <a:bodyPr wrap="square" lIns="0" tIns="0" rIns="0" bIns="0" rtlCol="0" anchor="ctr"/>
          <a:lstStyle/>
          <a:p>
            <a:pPr marL="0" indent="0">
              <a:buNone/>
            </a:pPr>
            <a:r>
              <a:rPr lang="en-US" sz="1050" dirty="0">
                <a:solidFill>
                  <a:srgbClr val="8C7C82"/>
                </a:solidFill>
                <a:latin typeface="Calibri" pitchFamily="34" charset="0"/>
                <a:ea typeface="Calibri" pitchFamily="34" charset="-122"/>
                <a:cs typeface="Calibri" pitchFamily="34" charset="-120"/>
              </a:rPr>
              <a:t>Share of chains that move beyond the seeded creators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1737360" y="-1737360"/>
            <a:ext cx="4754880" cy="4754880"/>
          </a:xfrm>
          <a:prstGeom prst="ellipse">
            <a:avLst/>
          </a:prstGeom>
          <a:solidFill>
            <a:srgbClr val="B01458"/>
          </a:solidFill>
          <a:ln/>
        </p:spPr>
      </p:sp>
      <p:sp>
        <p:nvSpPr>
          <p:cNvPr id="3" name="Text 1"/>
          <p:cNvSpPr/>
          <p:nvPr/>
        </p:nvSpPr>
        <p:spPr>
          <a:xfrm>
            <a:off x="548640" y="548640"/>
            <a:ext cx="7315200" cy="365760"/>
          </a:xfrm>
          <a:prstGeom prst="rect">
            <a:avLst/>
          </a:prstGeom>
          <a:noFill/>
          <a:ln/>
        </p:spPr>
        <p:txBody>
          <a:bodyPr wrap="square" lIns="0" tIns="0" rIns="0" bIns="0" rtlCol="0" anchor="ctr"/>
          <a:lstStyle/>
          <a:p>
            <a:pPr marL="0" indent="0">
              <a:buNone/>
            </a:pPr>
            <a:r>
              <a:rPr lang="en-US" sz="1300" b="1" kern="0" spc="300" dirty="0">
                <a:solidFill>
                  <a:srgbClr val="FC2779"/>
                </a:solidFill>
                <a:latin typeface="Calibri" pitchFamily="34" charset="0"/>
                <a:ea typeface="Calibri" pitchFamily="34" charset="-122"/>
                <a:cs typeface="Calibri" pitchFamily="34" charset="-120"/>
              </a:rPr>
              <a:t>EXPECTED IMPACT</a:t>
            </a:r>
            <a:endParaRPr lang="en-US" sz="1300" dirty="0"/>
          </a:p>
        </p:txBody>
      </p:sp>
      <p:sp>
        <p:nvSpPr>
          <p:cNvPr id="4" name="Text 2"/>
          <p:cNvSpPr/>
          <p:nvPr/>
        </p:nvSpPr>
        <p:spPr>
          <a:xfrm>
            <a:off x="548640" y="960120"/>
            <a:ext cx="1005840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a trusted retailer to a trust engine</a:t>
            </a:r>
            <a:endParaRPr lang="en-US" sz="3000" dirty="0"/>
          </a:p>
        </p:txBody>
      </p:sp>
      <p:sp>
        <p:nvSpPr>
          <p:cNvPr id="5" name="Shape 3"/>
          <p:cNvSpPr/>
          <p:nvPr/>
        </p:nvSpPr>
        <p:spPr>
          <a:xfrm>
            <a:off x="548640" y="2057400"/>
            <a:ext cx="457200" cy="457200"/>
          </a:xfrm>
          <a:prstGeom prst="ellipse">
            <a:avLst/>
          </a:prstGeom>
          <a:solidFill>
            <a:srgbClr val="FC2779"/>
          </a:solidFill>
          <a:ln/>
        </p:spPr>
      </p:sp>
      <p:pic>
        <p:nvPicPr>
          <p:cNvPr id="6" name="Image 0" descr="/home/claude/icons/heart_black.png"/>
          <p:cNvPicPr>
            <a:picLocks noChangeAspect="1"/>
          </p:cNvPicPr>
          <p:nvPr/>
        </p:nvPicPr>
        <p:blipFill>
          <a:blip r:embed="rId3"/>
          <a:stretch>
            <a:fillRect/>
          </a:stretch>
        </p:blipFill>
        <p:spPr>
          <a:xfrm>
            <a:off x="612648" y="2121408"/>
            <a:ext cx="329184" cy="329184"/>
          </a:xfrm>
          <a:prstGeom prst="rect">
            <a:avLst/>
          </a:prstGeom>
        </p:spPr>
      </p:pic>
      <p:sp>
        <p:nvSpPr>
          <p:cNvPr id="7" name="Text 4"/>
          <p:cNvSpPr/>
          <p:nvPr/>
        </p:nvSpPr>
        <p:spPr>
          <a:xfrm>
            <a:off x="1234440" y="2029968"/>
            <a:ext cx="960120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Deeper community loyalty</a:t>
            </a:r>
            <a:endParaRPr lang="en-US" sz="1550" dirty="0"/>
          </a:p>
        </p:txBody>
      </p:sp>
      <p:sp>
        <p:nvSpPr>
          <p:cNvPr id="8" name="Text 5"/>
          <p:cNvSpPr/>
          <p:nvPr/>
        </p:nvSpPr>
        <p:spPr>
          <a:xfrm>
            <a:off x="1234440" y="2359152"/>
            <a:ext cx="9875520" cy="365760"/>
          </a:xfrm>
          <a:prstGeom prst="rect">
            <a:avLst/>
          </a:prstGeom>
          <a:noFill/>
          <a:ln/>
        </p:spPr>
        <p:txBody>
          <a:bodyPr wrap="square" lIns="0" tIns="0" rIns="0" bIns="0" rtlCol="0" anchor="ctr"/>
          <a:lstStyle/>
          <a:p>
            <a:pPr marL="0" indent="0">
              <a:buNone/>
            </a:pPr>
            <a:r>
              <a:rPr lang="en-US" sz="1200" dirty="0">
                <a:solidFill>
                  <a:srgbClr val="D8CDD1"/>
                </a:solidFill>
                <a:latin typeface="Calibri" pitchFamily="34" charset="0"/>
                <a:ea typeface="Calibri" pitchFamily="34" charset="-122"/>
                <a:cs typeface="Calibri" pitchFamily="34" charset="-120"/>
              </a:rPr>
              <a:t>Every handoff strengthens belonging to Nykaa Network rather than a single transaction.</a:t>
            </a:r>
            <a:endParaRPr lang="en-US" sz="1200" dirty="0"/>
          </a:p>
        </p:txBody>
      </p:sp>
      <p:sp>
        <p:nvSpPr>
          <p:cNvPr id="9" name="Shape 6"/>
          <p:cNvSpPr/>
          <p:nvPr/>
        </p:nvSpPr>
        <p:spPr>
          <a:xfrm>
            <a:off x="548640" y="2971800"/>
            <a:ext cx="457200" cy="457200"/>
          </a:xfrm>
          <a:prstGeom prst="ellipse">
            <a:avLst/>
          </a:prstGeom>
          <a:solidFill>
            <a:srgbClr val="FC2779"/>
          </a:solidFill>
          <a:ln/>
        </p:spPr>
      </p:sp>
      <p:pic>
        <p:nvPicPr>
          <p:cNvPr id="10" name="Image 1" descr="/home/claude/icons/repeat_black.png"/>
          <p:cNvPicPr>
            <a:picLocks noChangeAspect="1"/>
          </p:cNvPicPr>
          <p:nvPr/>
        </p:nvPicPr>
        <p:blipFill>
          <a:blip r:embed="rId4"/>
          <a:stretch>
            <a:fillRect/>
          </a:stretch>
        </p:blipFill>
        <p:spPr>
          <a:xfrm>
            <a:off x="612648" y="3035808"/>
            <a:ext cx="329184" cy="329184"/>
          </a:xfrm>
          <a:prstGeom prst="rect">
            <a:avLst/>
          </a:prstGeom>
        </p:spPr>
      </p:pic>
      <p:sp>
        <p:nvSpPr>
          <p:cNvPr id="11" name="Text 7"/>
          <p:cNvSpPr/>
          <p:nvPr/>
        </p:nvSpPr>
        <p:spPr>
          <a:xfrm>
            <a:off x="1234440" y="2944368"/>
            <a:ext cx="960120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Organic, evergreen content supply</a:t>
            </a:r>
            <a:endParaRPr lang="en-US" sz="1550" dirty="0"/>
          </a:p>
        </p:txBody>
      </p:sp>
      <p:sp>
        <p:nvSpPr>
          <p:cNvPr id="12" name="Text 8"/>
          <p:cNvSpPr/>
          <p:nvPr/>
        </p:nvSpPr>
        <p:spPr>
          <a:xfrm>
            <a:off x="1234440" y="3273552"/>
            <a:ext cx="9875520" cy="365760"/>
          </a:xfrm>
          <a:prstGeom prst="rect">
            <a:avLst/>
          </a:prstGeom>
          <a:noFill/>
          <a:ln/>
        </p:spPr>
        <p:txBody>
          <a:bodyPr wrap="square" lIns="0" tIns="0" rIns="0" bIns="0" rtlCol="0" anchor="ctr"/>
          <a:lstStyle/>
          <a:p>
            <a:pPr marL="0" indent="0">
              <a:buNone/>
            </a:pPr>
            <a:r>
              <a:rPr lang="en-US" sz="1200" dirty="0">
                <a:solidFill>
                  <a:srgbClr val="D8CDD1"/>
                </a:solidFill>
                <a:latin typeface="Calibri" pitchFamily="34" charset="0"/>
                <a:ea typeface="Calibri" pitchFamily="34" charset="-122"/>
                <a:cs typeface="Calibri" pitchFamily="34" charset="-120"/>
              </a:rPr>
              <a:t>Users and creators generate the pipeline — content doesn't run out.</a:t>
            </a:r>
            <a:endParaRPr lang="en-US" sz="1200" dirty="0"/>
          </a:p>
        </p:txBody>
      </p:sp>
      <p:sp>
        <p:nvSpPr>
          <p:cNvPr id="13" name="Shape 9"/>
          <p:cNvSpPr/>
          <p:nvPr/>
        </p:nvSpPr>
        <p:spPr>
          <a:xfrm>
            <a:off x="548640" y="3886200"/>
            <a:ext cx="457200" cy="457200"/>
          </a:xfrm>
          <a:prstGeom prst="ellipse">
            <a:avLst/>
          </a:prstGeom>
          <a:solidFill>
            <a:srgbClr val="FC2779"/>
          </a:solidFill>
          <a:ln/>
        </p:spPr>
      </p:sp>
      <p:pic>
        <p:nvPicPr>
          <p:cNvPr id="14" name="Image 2" descr="/home/claude/icons/star_black.png"/>
          <p:cNvPicPr>
            <a:picLocks noChangeAspect="1"/>
          </p:cNvPicPr>
          <p:nvPr/>
        </p:nvPicPr>
        <p:blipFill>
          <a:blip r:embed="rId5"/>
          <a:stretch>
            <a:fillRect/>
          </a:stretch>
        </p:blipFill>
        <p:spPr>
          <a:xfrm>
            <a:off x="612648" y="3950208"/>
            <a:ext cx="329184" cy="329184"/>
          </a:xfrm>
          <a:prstGeom prst="rect">
            <a:avLst/>
          </a:prstGeom>
        </p:spPr>
      </p:pic>
      <p:sp>
        <p:nvSpPr>
          <p:cNvPr id="15" name="Text 10"/>
          <p:cNvSpPr/>
          <p:nvPr/>
        </p:nvSpPr>
        <p:spPr>
          <a:xfrm>
            <a:off x="1234440" y="3858768"/>
            <a:ext cx="960120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Stronger creator retention</a:t>
            </a:r>
            <a:endParaRPr lang="en-US" sz="1550" dirty="0"/>
          </a:p>
        </p:txBody>
      </p:sp>
      <p:sp>
        <p:nvSpPr>
          <p:cNvPr id="16" name="Text 11"/>
          <p:cNvSpPr/>
          <p:nvPr/>
        </p:nvSpPr>
        <p:spPr>
          <a:xfrm>
            <a:off x="1234440" y="4187952"/>
            <a:ext cx="9875520" cy="365760"/>
          </a:xfrm>
          <a:prstGeom prst="rect">
            <a:avLst/>
          </a:prstGeom>
          <a:noFill/>
          <a:ln/>
        </p:spPr>
        <p:txBody>
          <a:bodyPr wrap="square" lIns="0" tIns="0" rIns="0" bIns="0" rtlCol="0" anchor="ctr"/>
          <a:lstStyle/>
          <a:p>
            <a:pPr marL="0" indent="0">
              <a:buNone/>
            </a:pPr>
            <a:r>
              <a:rPr lang="en-US" sz="1200" dirty="0">
                <a:solidFill>
                  <a:srgbClr val="D8CDD1"/>
                </a:solidFill>
                <a:latin typeface="Calibri" pitchFamily="34" charset="0"/>
                <a:ea typeface="Calibri" pitchFamily="34" charset="-122"/>
                <a:cs typeface="Calibri" pitchFamily="34" charset="-120"/>
              </a:rPr>
              <a:t>Creators gain visible legacy as “the one who taught”, not just paid promoters.</a:t>
            </a:r>
            <a:endParaRPr lang="en-US" sz="1200" dirty="0"/>
          </a:p>
        </p:txBody>
      </p:sp>
      <p:sp>
        <p:nvSpPr>
          <p:cNvPr id="17" name="Shape 12"/>
          <p:cNvSpPr/>
          <p:nvPr/>
        </p:nvSpPr>
        <p:spPr>
          <a:xfrm>
            <a:off x="548640" y="4800600"/>
            <a:ext cx="457200" cy="457200"/>
          </a:xfrm>
          <a:prstGeom prst="ellipse">
            <a:avLst/>
          </a:prstGeom>
          <a:solidFill>
            <a:srgbClr val="FC2779"/>
          </a:solidFill>
          <a:ln/>
        </p:spPr>
      </p:sp>
      <p:pic>
        <p:nvPicPr>
          <p:cNvPr id="18" name="Image 3" descr="/home/claude/icons/trending_black.png"/>
          <p:cNvPicPr>
            <a:picLocks noChangeAspect="1"/>
          </p:cNvPicPr>
          <p:nvPr/>
        </p:nvPicPr>
        <p:blipFill>
          <a:blip r:embed="rId6"/>
          <a:stretch>
            <a:fillRect/>
          </a:stretch>
        </p:blipFill>
        <p:spPr>
          <a:xfrm>
            <a:off x="612648" y="4864608"/>
            <a:ext cx="329184" cy="329184"/>
          </a:xfrm>
          <a:prstGeom prst="rect">
            <a:avLst/>
          </a:prstGeom>
        </p:spPr>
      </p:pic>
      <p:sp>
        <p:nvSpPr>
          <p:cNvPr id="19" name="Text 13"/>
          <p:cNvSpPr/>
          <p:nvPr/>
        </p:nvSpPr>
        <p:spPr>
          <a:xfrm>
            <a:off x="1234440" y="4773168"/>
            <a:ext cx="960120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Compounding reach over time</a:t>
            </a:r>
            <a:endParaRPr lang="en-US" sz="1550" dirty="0"/>
          </a:p>
        </p:txBody>
      </p:sp>
      <p:sp>
        <p:nvSpPr>
          <p:cNvPr id="20" name="Text 14"/>
          <p:cNvSpPr/>
          <p:nvPr/>
        </p:nvSpPr>
        <p:spPr>
          <a:xfrm>
            <a:off x="1234440" y="5102352"/>
            <a:ext cx="9875520" cy="365760"/>
          </a:xfrm>
          <a:prstGeom prst="rect">
            <a:avLst/>
          </a:prstGeom>
          <a:noFill/>
          <a:ln/>
        </p:spPr>
        <p:txBody>
          <a:bodyPr wrap="square" lIns="0" tIns="0" rIns="0" bIns="0" rtlCol="0" anchor="ctr"/>
          <a:lstStyle/>
          <a:p>
            <a:pPr marL="0" indent="0">
              <a:buNone/>
            </a:pPr>
            <a:r>
              <a:rPr lang="en-US" sz="1200" dirty="0">
                <a:solidFill>
                  <a:srgbClr val="D8CDD1"/>
                </a:solidFill>
                <a:latin typeface="Calibri" pitchFamily="34" charset="0"/>
                <a:ea typeface="Calibri" pitchFamily="34" charset="-122"/>
                <a:cs typeface="Calibri" pitchFamily="34" charset="-120"/>
              </a:rPr>
              <a:t>Unlike a campaign spike, each chain adds distribution the next month builds on.</a:t>
            </a:r>
            <a:endParaRPr lang="en-US" sz="1200" dirty="0"/>
          </a:p>
        </p:txBody>
      </p:sp>
      <p:sp>
        <p:nvSpPr>
          <p:cNvPr id="21" name="Text 15"/>
          <p:cNvSpPr/>
          <p:nvPr/>
        </p:nvSpPr>
        <p:spPr>
          <a:xfrm>
            <a:off x="548640" y="5989320"/>
            <a:ext cx="10515600" cy="457200"/>
          </a:xfrm>
          <a:prstGeom prst="rect">
            <a:avLst/>
          </a:prstGeom>
          <a:noFill/>
          <a:ln/>
        </p:spPr>
        <p:txBody>
          <a:bodyPr wrap="square" lIns="0" tIns="0" rIns="0" bIns="0" rtlCol="0" anchor="ctr"/>
          <a:lstStyle/>
          <a:p>
            <a:pPr marL="0" indent="0">
              <a:buNone/>
            </a:pPr>
            <a:r>
              <a:rPr lang="en-US" sz="1400" i="1" dirty="0">
                <a:solidFill>
                  <a:srgbClr val="FC2779"/>
                </a:solidFill>
                <a:latin typeface="Cambria" pitchFamily="34" charset="0"/>
                <a:ea typeface="Cambria" pitchFamily="34" charset="-122"/>
                <a:cs typeface="Cambria" pitchFamily="34" charset="-120"/>
              </a:rPr>
              <a:t>Nykaa didn't just sell the trick. Nykaa made sure it never stopped travelling.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277</TotalTime>
  <Words>769</Words>
  <Application>Microsoft Office PowerPoint</Application>
  <PresentationFormat>Widescreen</PresentationFormat>
  <Paragraphs>105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Kanushi Taneja</cp:lastModifiedBy>
  <cp:revision>2</cp:revision>
  <dcterms:created xsi:type="dcterms:W3CDTF">2026-07-25T21:38:55Z</dcterms:created>
  <dcterms:modified xsi:type="dcterms:W3CDTF">2026-08-06T19:03:38Z</dcterms:modified>
</cp:coreProperties>
</file>